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91" r:id="rId6"/>
    <p:sldId id="261" r:id="rId7"/>
    <p:sldId id="263" r:id="rId8"/>
    <p:sldId id="265" r:id="rId9"/>
    <p:sldId id="266" r:id="rId10"/>
    <p:sldId id="268" r:id="rId11"/>
    <p:sldId id="270" r:id="rId12"/>
    <p:sldId id="271" r:id="rId13"/>
    <p:sldId id="273" r:id="rId14"/>
    <p:sldId id="274" r:id="rId15"/>
    <p:sldId id="275" r:id="rId16"/>
    <p:sldId id="276" r:id="rId17"/>
    <p:sldId id="279" r:id="rId18"/>
    <p:sldId id="280" r:id="rId19"/>
    <p:sldId id="292" r:id="rId20"/>
    <p:sldId id="281" r:id="rId21"/>
    <p:sldId id="295" r:id="rId22"/>
    <p:sldId id="294" r:id="rId23"/>
    <p:sldId id="283" r:id="rId24"/>
    <p:sldId id="284" r:id="rId25"/>
    <p:sldId id="285" r:id="rId26"/>
    <p:sldId id="286" r:id="rId27"/>
    <p:sldId id="289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118872" cy="548640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41832" y="832104"/>
            <a:ext cx="5486400" cy="228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8D9C9"/>
                </a:solidFill>
                <a:latin typeface="Noto Sans"/>
              </a:rPr>
              <a:t>NGHIÊN CỨU &amp; THỰC NGHIỆM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1481328"/>
            <a:ext cx="8321040" cy="84124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Noto Sans"/>
              </a:rPr>
              <a:t>CAR PRICE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2414016"/>
            <a:ext cx="9326880" cy="13533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3100" b="1">
                <a:solidFill>
                  <a:srgbClr val="FFFFFF"/>
                </a:solidFill>
                <a:latin typeface="Noto Sans"/>
              </a:rPr>
              <a:t>Dự đoán giá xe ô tô cũ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3100" b="1">
                <a:solidFill>
                  <a:srgbClr val="FFFFFF"/>
                </a:solidFill>
                <a:latin typeface="Noto Sans"/>
              </a:rPr>
              <a:t>bằng CatBoost Regressor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4123944"/>
            <a:ext cx="8229600" cy="4389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C9D7E6"/>
                </a:solidFill>
                <a:latin typeface="Noto Sans"/>
              </a:rPr>
              <a:t>Dữ liệu Việt Nam  •  24.582 xe cũ  •  14 đặc trưng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" y="4919472"/>
            <a:ext cx="2926080" cy="594360"/>
          </a:xfrm>
          <a:prstGeom prst="roundRect">
            <a:avLst>
              <a:gd name="adj" fmla="val 16000"/>
            </a:avLst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5056632"/>
            <a:ext cx="2560320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3263C"/>
                </a:solidFill>
                <a:latin typeface="Noto Sans"/>
              </a:rPr>
              <a:t>R² Test = 0,9568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298448"/>
            <a:ext cx="1920240" cy="1920240"/>
          </a:xfrm>
          <a:prstGeom prst="roundRect">
            <a:avLst>
              <a:gd name="adj" fmla="val 16000"/>
            </a:avLst>
          </a:prstGeom>
          <a:solidFill>
            <a:srgbClr val="20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92640" y="1664208"/>
            <a:ext cx="914400" cy="566928"/>
          </a:xfrm>
          <a:prstGeom prst="roundRect">
            <a:avLst>
              <a:gd name="adj" fmla="val 16000"/>
            </a:avLst>
          </a:prstGeom>
          <a:solidFill>
            <a:srgbClr val="16A592"/>
          </a:solidFill>
          <a:ln w="13970">
            <a:solidFill>
              <a:srgbClr val="16A5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47504" y="1746504"/>
            <a:ext cx="804672" cy="411479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3263C"/>
                </a:solidFill>
                <a:latin typeface="Noto Sans"/>
              </a:rPr>
              <a:t>F₀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3538728"/>
            <a:ext cx="1051560" cy="676656"/>
          </a:xfrm>
          <a:prstGeom prst="roundRect">
            <a:avLst>
              <a:gd name="adj" fmla="val 16000"/>
            </a:avLst>
          </a:prstGeom>
          <a:solidFill>
            <a:srgbClr val="365575"/>
          </a:solidFill>
          <a:ln w="13970">
            <a:solidFill>
              <a:srgbClr val="365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24544" y="3621024"/>
            <a:ext cx="941831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3263C"/>
                </a:solidFill>
                <a:latin typeface="Noto Sans"/>
              </a:rPr>
              <a:t>Tree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0" y="3538728"/>
            <a:ext cx="1051560" cy="676656"/>
          </a:xfrm>
          <a:prstGeom prst="roundRect">
            <a:avLst>
              <a:gd name="adj" fmla="val 16000"/>
            </a:avLst>
          </a:prstGeom>
          <a:solidFill>
            <a:srgbClr val="365575"/>
          </a:solidFill>
          <a:ln w="13970">
            <a:solidFill>
              <a:srgbClr val="365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113264" y="3621024"/>
            <a:ext cx="941831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3263C"/>
                </a:solidFill>
                <a:latin typeface="Noto Sans"/>
              </a:rPr>
              <a:t>Tree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4709160"/>
            <a:ext cx="1051560" cy="676656"/>
          </a:xfrm>
          <a:prstGeom prst="roundRect">
            <a:avLst>
              <a:gd name="adj" fmla="val 16000"/>
            </a:avLst>
          </a:prstGeom>
          <a:solidFill>
            <a:srgbClr val="365575"/>
          </a:solidFill>
          <a:ln w="13970">
            <a:solidFill>
              <a:srgbClr val="365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18904" y="4791456"/>
            <a:ext cx="941831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3263C"/>
                </a:solidFill>
                <a:latin typeface="Noto Sans"/>
              </a:rPr>
              <a:t>Tree 3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9400032" y="2240280"/>
            <a:ext cx="749808" cy="1298448"/>
          </a:xfrm>
          <a:prstGeom prst="line">
            <a:avLst/>
          </a:prstGeom>
          <a:ln w="25400">
            <a:solidFill>
              <a:srgbClr val="68D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49840" y="2240280"/>
            <a:ext cx="429768" cy="1298448"/>
          </a:xfrm>
          <a:prstGeom prst="line">
            <a:avLst/>
          </a:prstGeom>
          <a:ln w="25400">
            <a:solidFill>
              <a:srgbClr val="68D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9985248" y="2240280"/>
            <a:ext cx="164592" cy="2468880"/>
          </a:xfrm>
          <a:prstGeom prst="line">
            <a:avLst/>
          </a:prstGeom>
          <a:ln w="25400">
            <a:solidFill>
              <a:srgbClr val="68D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78408" y="6291072"/>
            <a:ext cx="914400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EB7C8"/>
                </a:solidFill>
                <a:latin typeface="Noto Sans"/>
              </a:rPr>
              <a:t>TỔNG HỢP TỪ SOURCE CODE, MODEL VÀ TEST THỰC TẾ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84632" y="420624"/>
            <a:ext cx="91440" cy="347472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9768"/>
            <a:ext cx="6035040" cy="2651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A592"/>
                </a:solidFill>
                <a:latin typeface="Noto Sans"/>
              </a:rPr>
              <a:t>01 / BỐI CẢNH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50392"/>
            <a:ext cx="10698480" cy="6309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3263C"/>
                </a:solidFill>
                <a:latin typeface="Noto Sans"/>
              </a:rPr>
              <a:t>Giá xe cũ không phải hàm tuyến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572768"/>
            <a:ext cx="10515600" cy="4480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66788C"/>
                </a:solidFill>
                <a:latin typeface="Noto Sans"/>
              </a:rPr>
              <a:t>Nhiều biến liên quan đồng thời; mục tiêu là ước tính giá niêm yết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6464808"/>
            <a:ext cx="10698480" cy="0"/>
          </a:xfrm>
          <a:prstGeom prst="line">
            <a:avLst/>
          </a:prstGeom>
          <a:ln w="12700">
            <a:solidFill>
              <a:srgbClr val="D8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9808" y="6547104"/>
            <a:ext cx="548640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88C"/>
                </a:solidFill>
                <a:latin typeface="Noto Sans"/>
              </a:rPr>
              <a:t>CAR PRICE AI  /  CATBOOST REGRESSOR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19672"/>
            <a:ext cx="411480" cy="2103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88C"/>
                </a:solidFill>
                <a:latin typeface="Noto Sans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67712"/>
            <a:ext cx="3429000" cy="26243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60120" y="2468880"/>
            <a:ext cx="82296" cy="310896"/>
          </a:xfrm>
          <a:prstGeom prst="rect">
            <a:avLst/>
          </a:prstGeom>
          <a:solidFill>
            <a:srgbClr val="507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2450592"/>
            <a:ext cx="2880360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3263C"/>
                </a:solidFill>
                <a:latin typeface="Noto Sans"/>
              </a:rPr>
              <a:t>Thông tin chiếc xe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072384"/>
            <a:ext cx="2880360" cy="16733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60" b="0">
                <a:solidFill>
                  <a:srgbClr val="66788C"/>
                </a:solidFill>
                <a:latin typeface="Noto Sans"/>
              </a:rPr>
              <a:t>Hãng, dòng xe, năm, số km, loại động cơ, số chỗ, xuất xứ...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2267712"/>
            <a:ext cx="3429000" cy="26243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90288" y="2468880"/>
            <a:ext cx="82296" cy="310896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73168" y="2450592"/>
            <a:ext cx="2880360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3263C"/>
                </a:solidFill>
                <a:latin typeface="Noto Sans"/>
              </a:rPr>
              <a:t>Mối quan hệ phức tạp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3072384"/>
            <a:ext cx="2880360" cy="16733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60" b="0">
                <a:solidFill>
                  <a:srgbClr val="66788C"/>
                </a:solidFill>
                <a:latin typeface="Noto Sans"/>
              </a:rPr>
              <a:t>Đời xe × hãng × cấu hình có thể làm giá biến đổi phi tuyến.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267712"/>
            <a:ext cx="3429000" cy="26243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2468880"/>
            <a:ext cx="82296" cy="310896"/>
          </a:xfrm>
          <a:prstGeom prst="rect">
            <a:avLst/>
          </a:prstGeom>
          <a:solidFill>
            <a:srgbClr val="F3A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2450592"/>
            <a:ext cx="2880360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3263C"/>
                </a:solidFill>
                <a:latin typeface="Noto Sans"/>
              </a:rPr>
              <a:t>Ước tính đầu 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072384"/>
            <a:ext cx="2880360" cy="16733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60" b="0">
                <a:solidFill>
                  <a:srgbClr val="66788C"/>
                </a:solidFill>
                <a:latin typeface="Noto Sans"/>
              </a:rPr>
              <a:t>Dự đoán giá niêm yết bằng triệu VNĐ; không phải giá giao dịch.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95344" y="5276088"/>
            <a:ext cx="4416552" cy="384048"/>
          </a:xfrm>
          <a:prstGeom prst="roundRect">
            <a:avLst>
              <a:gd name="adj" fmla="val 16000"/>
            </a:avLst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86783" y="5330951"/>
            <a:ext cx="4233672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A592"/>
                </a:solidFill>
                <a:latin typeface="Noto Sans"/>
              </a:rPr>
              <a:t>REGRESSION • SUPERVISED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84632" y="420624"/>
            <a:ext cx="91440" cy="347472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9768"/>
            <a:ext cx="6035040" cy="2651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A592"/>
                </a:solidFill>
                <a:latin typeface="Noto Sans"/>
              </a:rPr>
              <a:t>01 / MỤC TIÊU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50392"/>
            <a:ext cx="10698480" cy="6309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3263C"/>
                </a:solidFill>
                <a:latin typeface="Noto Sans"/>
              </a:rPr>
              <a:t>Đề tài cần giải quyết điều gì?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464808"/>
            <a:ext cx="10698480" cy="0"/>
          </a:xfrm>
          <a:prstGeom prst="line">
            <a:avLst/>
          </a:prstGeom>
          <a:ln w="12700">
            <a:solidFill>
              <a:srgbClr val="D8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6547104"/>
            <a:ext cx="548640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88C"/>
                </a:solidFill>
                <a:latin typeface="Noto Sans"/>
              </a:rPr>
              <a:t>CAR PRICE AI  /  CATBOOST REGRESSOR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411480" cy="2103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88C"/>
                </a:solidFill>
                <a:latin typeface="Noto Sans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" y="2048256"/>
            <a:ext cx="86868" cy="86868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2144" y="1920240"/>
            <a:ext cx="9802367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2364A"/>
                </a:solidFill>
                <a:latin typeface="Noto Sans"/>
              </a:rPr>
              <a:t>Tạo pipeline từ CSV raw đến dữ liệu sẵn sàng huấn luyện.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1832" y="2898648"/>
            <a:ext cx="86868" cy="86868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52144" y="2770632"/>
            <a:ext cx="9802367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2364A"/>
                </a:solidFill>
                <a:latin typeface="Noto Sans"/>
              </a:rPr>
              <a:t>Chọn một thuật toán phù hợp và giải thích lý do lựa chọn.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2" y="3749040"/>
            <a:ext cx="86868" cy="86868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52144" y="3621024"/>
            <a:ext cx="9802367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2364A"/>
                </a:solidFill>
                <a:latin typeface="Noto Sans"/>
              </a:rPr>
              <a:t>Đo sai số Test rõ ràng; nhận diện nhóm xe dự đoán kém.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" y="4599432"/>
            <a:ext cx="86868" cy="86868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52144" y="4471416"/>
            <a:ext cx="9802367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2364A"/>
                </a:solidFill>
                <a:latin typeface="Noto Sans"/>
              </a:rPr>
              <a:t>Xây dựng chương trình Terminal cho người dùng nhập thông số xe.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68880" y="5577840"/>
            <a:ext cx="6858000" cy="384048"/>
          </a:xfrm>
          <a:prstGeom prst="roundRect">
            <a:avLst>
              <a:gd name="adj" fmla="val 16000"/>
            </a:avLst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60320" y="5632703"/>
            <a:ext cx="6675120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A592"/>
                </a:solidFill>
                <a:latin typeface="Noto Sans"/>
              </a:rPr>
              <a:t>Sản phẩm: MODEL .CBM  +  CÁC REPORT  +  RUN.PY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84632" y="420624"/>
            <a:ext cx="91440" cy="347472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9768"/>
            <a:ext cx="6035040" cy="2651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A592"/>
                </a:solidFill>
                <a:latin typeface="Noto Sans"/>
              </a:rPr>
              <a:t>02 /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50392"/>
            <a:ext cx="10698480" cy="6309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3263C"/>
                </a:solidFill>
                <a:latin typeface="Noto Sans"/>
              </a:rPr>
              <a:t>Từ 30.652 tin đăng đến 24.582 xe cũ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464808"/>
            <a:ext cx="10698480" cy="0"/>
          </a:xfrm>
          <a:prstGeom prst="line">
            <a:avLst/>
          </a:prstGeom>
          <a:ln w="12700">
            <a:solidFill>
              <a:srgbClr val="D8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6547104"/>
            <a:ext cx="548640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88C"/>
                </a:solidFill>
                <a:latin typeface="Noto Sans"/>
              </a:rPr>
              <a:t>CAR PRICE AI  /  CATBOOST REGRESSOR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411480" cy="2103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88C"/>
                </a:solidFill>
                <a:latin typeface="Noto San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1901952"/>
            <a:ext cx="3374136" cy="12984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039112"/>
            <a:ext cx="2953512" cy="2468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788C"/>
                </a:solidFill>
                <a:latin typeface="Noto Sans"/>
              </a:rPr>
              <a:t>CSV raw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77440"/>
            <a:ext cx="2971800" cy="4937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507FF1"/>
                </a:solidFill>
                <a:latin typeface="Noto Sans"/>
              </a:rPr>
              <a:t>30.652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935224"/>
            <a:ext cx="2916936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88C"/>
                </a:solidFill>
                <a:latin typeface="Noto Sans"/>
              </a:rPr>
              <a:t>21 cột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901952"/>
            <a:ext cx="3374136" cy="12984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2039112"/>
            <a:ext cx="2953512" cy="2468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788C"/>
                </a:solidFill>
                <a:latin typeface="Noto Sans"/>
              </a:rPr>
              <a:t>Xe đã dùng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377440"/>
            <a:ext cx="2971800" cy="4937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6A592"/>
                </a:solidFill>
                <a:latin typeface="Noto Sans"/>
              </a:rPr>
              <a:t>24.582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2935224"/>
            <a:ext cx="2916936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88C"/>
                </a:solidFill>
                <a:latin typeface="Noto Sans"/>
              </a:rPr>
              <a:t>Loại 6.070 tin xe mới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901952"/>
            <a:ext cx="3374136" cy="12984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57032" y="2039112"/>
            <a:ext cx="2953512" cy="2050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dirty="0" err="1">
                <a:solidFill>
                  <a:srgbClr val="66788C"/>
                </a:solidFill>
                <a:latin typeface="Noto Sans"/>
              </a:rPr>
              <a:t>B</a:t>
            </a:r>
            <a:r>
              <a:rPr sz="1200" b="0" dirty="0" err="1">
                <a:solidFill>
                  <a:srgbClr val="66788C"/>
                </a:solidFill>
                <a:latin typeface="Noto Sans"/>
              </a:rPr>
              <a:t>ộ</a:t>
            </a:r>
            <a:r>
              <a:rPr sz="1200" b="0" dirty="0">
                <a:solidFill>
                  <a:srgbClr val="66788C"/>
                </a:solidFill>
                <a:latin typeface="Noto Sans"/>
              </a:rPr>
              <a:t> features</a:t>
            </a:r>
            <a:r>
              <a:rPr lang="en-US" sz="1200" b="0" dirty="0">
                <a:solidFill>
                  <a:srgbClr val="66788C"/>
                </a:solidFill>
                <a:latin typeface="Noto Sans"/>
              </a:rPr>
              <a:t> </a:t>
            </a:r>
            <a:r>
              <a:rPr lang="en-US" sz="1200" b="0" dirty="0" err="1">
                <a:solidFill>
                  <a:srgbClr val="66788C"/>
                </a:solidFill>
                <a:latin typeface="Noto Sans"/>
              </a:rPr>
              <a:t>sau</a:t>
            </a:r>
            <a:r>
              <a:rPr lang="en-US" sz="1200" b="0" dirty="0">
                <a:solidFill>
                  <a:srgbClr val="66788C"/>
                </a:solidFill>
                <a:latin typeface="Noto Sans"/>
              </a:rPr>
              <a:t> </a:t>
            </a:r>
            <a:r>
              <a:rPr lang="en-US" sz="1200" b="0" dirty="0" err="1">
                <a:solidFill>
                  <a:srgbClr val="66788C"/>
                </a:solidFill>
                <a:latin typeface="Noto Sans"/>
              </a:rPr>
              <a:t>proccessed</a:t>
            </a:r>
            <a:endParaRPr sz="1200" b="0" dirty="0">
              <a:solidFill>
                <a:srgbClr val="66788C"/>
              </a:solidFill>
              <a:latin typeface="Noto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47888" y="2377440"/>
            <a:ext cx="2971800" cy="4937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3A15E"/>
                </a:solidFill>
                <a:latin typeface="Noto Sans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935224"/>
            <a:ext cx="2916936" cy="16619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66788C"/>
                </a:solidFill>
                <a:latin typeface="Noto Sans"/>
              </a:rPr>
              <a:t>+ 1 target</a:t>
            </a:r>
            <a:r>
              <a:rPr lang="en-US" sz="950" b="0" dirty="0">
                <a:solidFill>
                  <a:srgbClr val="66788C"/>
                </a:solidFill>
                <a:latin typeface="Noto Sans"/>
              </a:rPr>
              <a:t> </a:t>
            </a:r>
            <a:r>
              <a:rPr lang="en-US" sz="950" b="0" dirty="0" err="1">
                <a:solidFill>
                  <a:srgbClr val="66788C"/>
                </a:solidFill>
                <a:latin typeface="Noto Sans"/>
              </a:rPr>
              <a:t>khi</a:t>
            </a:r>
            <a:r>
              <a:rPr lang="en-US" sz="950" b="0" dirty="0">
                <a:solidFill>
                  <a:srgbClr val="66788C"/>
                </a:solidFill>
                <a:latin typeface="Noto Sans"/>
              </a:rPr>
              <a:t> train</a:t>
            </a:r>
            <a:r>
              <a:rPr sz="950" b="0" dirty="0">
                <a:solidFill>
                  <a:srgbClr val="66788C"/>
                </a:solidFill>
                <a:latin typeface="Noto Sans"/>
              </a:rPr>
              <a:t>: </a:t>
            </a:r>
            <a:r>
              <a:rPr sz="950" b="0" dirty="0" err="1">
                <a:solidFill>
                  <a:srgbClr val="66788C"/>
                </a:solidFill>
                <a:latin typeface="Noto Sans"/>
              </a:rPr>
              <a:t>price_million</a:t>
            </a:r>
            <a:endParaRPr sz="950" b="0" dirty="0">
              <a:solidFill>
                <a:srgbClr val="66788C"/>
              </a:solidFill>
              <a:latin typeface="Noto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" y="6208776"/>
            <a:ext cx="10332720" cy="2103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6788C"/>
                </a:solidFill>
                <a:latin typeface="Noto Sans"/>
              </a:rPr>
              <a:t>Nguồn: car_detail.csv và cars_clean_v2.csv trong ZIP được cung cấp.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rice_hist.png">
            <a:extLst>
              <a:ext uri="{FF2B5EF4-FFF2-40B4-BE49-F238E27FC236}">
                <a16:creationId xmlns:a16="http://schemas.microsoft.com/office/drawing/2014/main" id="{F1ECF978-A74D-00DA-7B25-E1D9AF19E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345" y="643466"/>
            <a:ext cx="863731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658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84632" y="420624"/>
            <a:ext cx="91440" cy="347472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9768"/>
            <a:ext cx="6035040" cy="2651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A592"/>
                </a:solidFill>
                <a:latin typeface="Noto Sans"/>
              </a:rPr>
              <a:t>02 / TIỀN XỬ LÝ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50392"/>
            <a:ext cx="10698480" cy="6309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3263C"/>
                </a:solidFill>
                <a:latin typeface="Noto Sans"/>
              </a:rPr>
              <a:t>Chuẩn hóa: ví dụ trực tiếp từ code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464808"/>
            <a:ext cx="10698480" cy="0"/>
          </a:xfrm>
          <a:prstGeom prst="line">
            <a:avLst/>
          </a:prstGeom>
          <a:ln w="12700">
            <a:solidFill>
              <a:srgbClr val="D8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6547104"/>
            <a:ext cx="548640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88C"/>
                </a:solidFill>
                <a:latin typeface="Noto Sans"/>
              </a:rPr>
              <a:t>CAR PRICE AI  /  CATBOOST REGRESSOR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411480" cy="2103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88C"/>
                </a:solidFill>
                <a:latin typeface="Noto Sans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847088"/>
            <a:ext cx="3785615" cy="457200"/>
          </a:xfrm>
          <a:prstGeom prst="rect">
            <a:avLst/>
          </a:prstGeom>
          <a:solidFill>
            <a:srgbClr val="13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929384"/>
            <a:ext cx="3602735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"/>
              </a:rPr>
              <a:t>TRƯỚC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1456" y="1847088"/>
            <a:ext cx="3749039" cy="457200"/>
          </a:xfrm>
          <a:prstGeom prst="rect">
            <a:avLst/>
          </a:prstGeom>
          <a:solidFill>
            <a:srgbClr val="13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82896" y="1929384"/>
            <a:ext cx="3566159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"/>
              </a:rPr>
              <a:t>HÀM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0496" y="1847088"/>
            <a:ext cx="2825496" cy="457200"/>
          </a:xfrm>
          <a:prstGeom prst="rect">
            <a:avLst/>
          </a:prstGeom>
          <a:solidFill>
            <a:srgbClr val="13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31936" y="1929384"/>
            <a:ext cx="2642615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"/>
              </a:rPr>
              <a:t>SAU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2304288"/>
            <a:ext cx="3785615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2386584"/>
            <a:ext cx="3611879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1 Tỷ 350 Triệu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91456" y="2304288"/>
            <a:ext cx="3749039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82896" y="2386584"/>
            <a:ext cx="3575303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parse_price()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40496" y="2304288"/>
            <a:ext cx="2825496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31936" y="2386584"/>
            <a:ext cx="2651760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1350.0 triệu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2871216"/>
            <a:ext cx="3785615" cy="566928"/>
          </a:xfrm>
          <a:prstGeom prst="rect">
            <a:avLst/>
          </a:prstGeom>
          <a:solidFill>
            <a:srgbClr val="EEF4F8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2953512"/>
            <a:ext cx="3611879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60,000 Km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91456" y="2871216"/>
            <a:ext cx="3749039" cy="566928"/>
          </a:xfrm>
          <a:prstGeom prst="rect">
            <a:avLst/>
          </a:prstGeom>
          <a:solidFill>
            <a:srgbClr val="EEF4F8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82896" y="2953512"/>
            <a:ext cx="3575303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parse_mileage()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40496" y="2871216"/>
            <a:ext cx="2825496" cy="566928"/>
          </a:xfrm>
          <a:prstGeom prst="rect">
            <a:avLst/>
          </a:prstGeom>
          <a:solidFill>
            <a:srgbClr val="EEF4F8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31936" y="2953512"/>
            <a:ext cx="2651760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60000.0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3438144"/>
            <a:ext cx="3785615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3520439"/>
            <a:ext cx="3611879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Xăng 2.0 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91456" y="3438144"/>
            <a:ext cx="3749039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82896" y="3520439"/>
            <a:ext cx="3575303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parse_fuel_type()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40496" y="3438144"/>
            <a:ext cx="2825496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31936" y="3520439"/>
            <a:ext cx="2651760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Xăng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4005072"/>
            <a:ext cx="3785615" cy="566928"/>
          </a:xfrm>
          <a:prstGeom prst="rect">
            <a:avLst/>
          </a:prstGeom>
          <a:solidFill>
            <a:srgbClr val="EEF4F8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97280" y="4087368"/>
            <a:ext cx="3611879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Xăng 2.0 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91456" y="4005072"/>
            <a:ext cx="3749039" cy="566928"/>
          </a:xfrm>
          <a:prstGeom prst="rect">
            <a:avLst/>
          </a:prstGeom>
          <a:solidFill>
            <a:srgbClr val="EEF4F8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82896" y="4087368"/>
            <a:ext cx="3575303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parse_engine_liters()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40496" y="4005072"/>
            <a:ext cx="2825496" cy="566928"/>
          </a:xfrm>
          <a:prstGeom prst="rect">
            <a:avLst/>
          </a:prstGeom>
          <a:solidFill>
            <a:srgbClr val="EEF4F8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31936" y="4087368"/>
            <a:ext cx="2651760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2.0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" y="4572000"/>
            <a:ext cx="3785615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97280" y="4654296"/>
            <a:ext cx="3611879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7 L/100Km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91456" y="4572000"/>
            <a:ext cx="3749039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882896" y="4654296"/>
            <a:ext cx="3575303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parse_fuel_consumption()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40496" y="4572000"/>
            <a:ext cx="2825496" cy="566928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31936" y="4654296"/>
            <a:ext cx="2651760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7.0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84632" y="420624"/>
            <a:ext cx="91440" cy="347472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9768"/>
            <a:ext cx="6035040" cy="2651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A592"/>
                </a:solidFill>
                <a:latin typeface="Noto Sans"/>
              </a:rPr>
              <a:t>03 / CATBOOST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50392"/>
            <a:ext cx="10698480" cy="6309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3263C"/>
                </a:solidFill>
                <a:latin typeface="Noto Sans"/>
              </a:rPr>
              <a:t>Vì sao chọn CatBoost?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464808"/>
            <a:ext cx="10698480" cy="0"/>
          </a:xfrm>
          <a:prstGeom prst="line">
            <a:avLst/>
          </a:prstGeom>
          <a:ln w="12700">
            <a:solidFill>
              <a:srgbClr val="D8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6547104"/>
            <a:ext cx="548640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88C"/>
                </a:solidFill>
                <a:latin typeface="Noto Sans"/>
              </a:rPr>
              <a:t>CAR PRICE AI  /  CATBOOST REGRESSOR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411480" cy="2103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88C"/>
                </a:solidFill>
                <a:latin typeface="Noto San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38528"/>
            <a:ext cx="3438144" cy="3108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05840" y="2139696"/>
            <a:ext cx="82296" cy="310896"/>
          </a:xfrm>
          <a:prstGeom prst="rect">
            <a:avLst/>
          </a:prstGeom>
          <a:solidFill>
            <a:srgbClr val="507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2121408"/>
            <a:ext cx="2889503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3263C"/>
                </a:solidFill>
                <a:latin typeface="Noto Sans"/>
              </a:rPr>
              <a:t>01 • Biến phân loại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2889503" cy="215798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60" b="0">
                <a:solidFill>
                  <a:srgbClr val="66788C"/>
                </a:solidFill>
                <a:latin typeface="Noto Sans"/>
              </a:rPr>
              <a:t>Làm việc trực tiếp với hãng, mẫu xe, hộp số, nguồn gốc...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938528"/>
            <a:ext cx="3438144" cy="3108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53712" y="2139696"/>
            <a:ext cx="82296" cy="310896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36592" y="2121408"/>
            <a:ext cx="2889503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3263C"/>
                </a:solidFill>
                <a:latin typeface="Noto Sans"/>
              </a:rPr>
              <a:t>02 • Quan hệ phi tuyến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743200"/>
            <a:ext cx="2889503" cy="215798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60" b="0">
                <a:solidFill>
                  <a:srgbClr val="66788C"/>
                </a:solidFill>
                <a:latin typeface="Noto Sans"/>
              </a:rPr>
              <a:t>Cây quyết định nắm bắt được tương tác giữa các thông số xe.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18704" y="1938528"/>
            <a:ext cx="3438144" cy="3108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01583" y="2139696"/>
            <a:ext cx="82296" cy="310896"/>
          </a:xfrm>
          <a:prstGeom prst="rect">
            <a:avLst/>
          </a:prstGeom>
          <a:solidFill>
            <a:srgbClr val="F3A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84464" y="2121408"/>
            <a:ext cx="2889503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13263C"/>
                </a:solidFill>
                <a:latin typeface="Noto Sans"/>
              </a:rPr>
              <a:t>03 • </a:t>
            </a:r>
            <a:r>
              <a:rPr sz="1700" b="1" dirty="0" err="1">
                <a:solidFill>
                  <a:srgbClr val="13263C"/>
                </a:solidFill>
                <a:latin typeface="Noto Sans"/>
              </a:rPr>
              <a:t>Xử</a:t>
            </a:r>
            <a:r>
              <a:rPr sz="1700" b="1" dirty="0">
                <a:solidFill>
                  <a:srgbClr val="13263C"/>
                </a:solidFill>
                <a:latin typeface="Noto Sans"/>
              </a:rPr>
              <a:t> </a:t>
            </a:r>
            <a:r>
              <a:rPr sz="1700" b="1" dirty="0" err="1">
                <a:solidFill>
                  <a:srgbClr val="13263C"/>
                </a:solidFill>
                <a:latin typeface="Noto Sans"/>
              </a:rPr>
              <a:t>lý</a:t>
            </a:r>
            <a:r>
              <a:rPr sz="1700" b="1" dirty="0">
                <a:solidFill>
                  <a:srgbClr val="13263C"/>
                </a:solidFill>
                <a:latin typeface="Noto Sans"/>
              </a:rPr>
              <a:t> </a:t>
            </a:r>
            <a:r>
              <a:rPr sz="1700" b="1" dirty="0" err="1">
                <a:solidFill>
                  <a:srgbClr val="13263C"/>
                </a:solidFill>
                <a:latin typeface="Noto Sans"/>
              </a:rPr>
              <a:t>NaN</a:t>
            </a:r>
            <a:endParaRPr sz="1700" b="1" dirty="0">
              <a:solidFill>
                <a:srgbClr val="13263C"/>
              </a:solidFill>
              <a:latin typeface="Noto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93024" y="2743200"/>
            <a:ext cx="2889503" cy="215798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60" b="0" dirty="0" err="1">
                <a:solidFill>
                  <a:srgbClr val="66788C"/>
                </a:solidFill>
                <a:latin typeface="Noto Sans"/>
              </a:rPr>
              <a:t>NaN</a:t>
            </a:r>
            <a:r>
              <a:rPr sz="1460" b="0" dirty="0">
                <a:solidFill>
                  <a:srgbClr val="66788C"/>
                </a:solidFill>
                <a:latin typeface="Noto Sans"/>
              </a:rPr>
              <a:t> </a:t>
            </a:r>
            <a:r>
              <a:rPr sz="1460" b="0" dirty="0" err="1">
                <a:solidFill>
                  <a:srgbClr val="66788C"/>
                </a:solidFill>
                <a:latin typeface="Noto Sans"/>
              </a:rPr>
              <a:t>số</a:t>
            </a:r>
            <a:r>
              <a:rPr sz="1460" b="0" dirty="0">
                <a:solidFill>
                  <a:srgbClr val="66788C"/>
                </a:solidFill>
                <a:latin typeface="Noto Sans"/>
              </a:rPr>
              <a:t> </a:t>
            </a:r>
            <a:r>
              <a:rPr sz="1460" b="0" dirty="0" err="1">
                <a:solidFill>
                  <a:srgbClr val="66788C"/>
                </a:solidFill>
                <a:latin typeface="Noto Sans"/>
              </a:rPr>
              <a:t>được</a:t>
            </a:r>
            <a:r>
              <a:rPr sz="1460" b="0" dirty="0">
                <a:solidFill>
                  <a:srgbClr val="66788C"/>
                </a:solidFill>
                <a:latin typeface="Noto Sans"/>
              </a:rPr>
              <a:t> </a:t>
            </a:r>
            <a:r>
              <a:rPr sz="1460" b="0" dirty="0" err="1">
                <a:solidFill>
                  <a:srgbClr val="66788C"/>
                </a:solidFill>
                <a:latin typeface="Noto Sans"/>
              </a:rPr>
              <a:t>xử</a:t>
            </a:r>
            <a:r>
              <a:rPr sz="1460" b="0" dirty="0">
                <a:solidFill>
                  <a:srgbClr val="66788C"/>
                </a:solidFill>
                <a:latin typeface="Noto Sans"/>
              </a:rPr>
              <a:t> </a:t>
            </a:r>
            <a:r>
              <a:rPr sz="1460" b="0" dirty="0" err="1">
                <a:solidFill>
                  <a:srgbClr val="66788C"/>
                </a:solidFill>
                <a:latin typeface="Noto Sans"/>
              </a:rPr>
              <a:t>lý</a:t>
            </a:r>
            <a:r>
              <a:rPr sz="1460" b="0" dirty="0">
                <a:solidFill>
                  <a:srgbClr val="66788C"/>
                </a:solidFill>
                <a:latin typeface="Noto Sans"/>
              </a:rPr>
              <a:t> </a:t>
            </a:r>
            <a:r>
              <a:rPr sz="1460" b="0" dirty="0" err="1">
                <a:solidFill>
                  <a:srgbClr val="66788C"/>
                </a:solidFill>
                <a:latin typeface="Noto Sans"/>
              </a:rPr>
              <a:t>trong</a:t>
            </a:r>
            <a:r>
              <a:rPr sz="1460" b="0" dirty="0">
                <a:solidFill>
                  <a:srgbClr val="66788C"/>
                </a:solidFill>
                <a:latin typeface="Noto Sans"/>
              </a:rPr>
              <a:t> </a:t>
            </a:r>
            <a:r>
              <a:rPr sz="1460" b="0" dirty="0" err="1">
                <a:solidFill>
                  <a:srgbClr val="66788C"/>
                </a:solidFill>
                <a:latin typeface="Noto Sans"/>
              </a:rPr>
              <a:t>thuật</a:t>
            </a:r>
            <a:r>
              <a:rPr sz="1460" b="0" dirty="0">
                <a:solidFill>
                  <a:srgbClr val="66788C"/>
                </a:solidFill>
                <a:latin typeface="Noto Sans"/>
              </a:rPr>
              <a:t> </a:t>
            </a:r>
            <a:r>
              <a:rPr sz="1460" b="0" dirty="0" err="1">
                <a:solidFill>
                  <a:srgbClr val="66788C"/>
                </a:solidFill>
                <a:latin typeface="Noto Sans"/>
              </a:rPr>
              <a:t>toán</a:t>
            </a:r>
            <a:r>
              <a:rPr sz="1460" b="0" dirty="0">
                <a:solidFill>
                  <a:srgbClr val="66788C"/>
                </a:solidFill>
                <a:latin typeface="Noto Sans"/>
              </a:rPr>
              <a:t>; </a:t>
            </a:r>
            <a:r>
              <a:rPr sz="1460" b="0" dirty="0" err="1">
                <a:solidFill>
                  <a:srgbClr val="66788C"/>
                </a:solidFill>
                <a:latin typeface="Noto Sans"/>
              </a:rPr>
              <a:t>không</a:t>
            </a:r>
            <a:r>
              <a:rPr sz="1460" b="0" dirty="0">
                <a:solidFill>
                  <a:srgbClr val="66788C"/>
                </a:solidFill>
                <a:latin typeface="Noto Sans"/>
              </a:rPr>
              <a:t> </a:t>
            </a:r>
            <a:r>
              <a:rPr sz="1460" b="0" dirty="0" err="1">
                <a:solidFill>
                  <a:srgbClr val="66788C"/>
                </a:solidFill>
                <a:latin typeface="Noto Sans"/>
              </a:rPr>
              <a:t>cần</a:t>
            </a:r>
            <a:r>
              <a:rPr sz="1460" b="0" dirty="0">
                <a:solidFill>
                  <a:srgbClr val="66788C"/>
                </a:solidFill>
                <a:latin typeface="Noto Sans"/>
              </a:rPr>
              <a:t> median </a:t>
            </a:r>
            <a:r>
              <a:rPr sz="1460" b="0" dirty="0" err="1">
                <a:solidFill>
                  <a:srgbClr val="66788C"/>
                </a:solidFill>
                <a:latin typeface="Noto Sans"/>
              </a:rPr>
              <a:t>thủ</a:t>
            </a:r>
            <a:r>
              <a:rPr sz="1460" b="0" dirty="0">
                <a:solidFill>
                  <a:srgbClr val="66788C"/>
                </a:solidFill>
                <a:latin typeface="Noto Sans"/>
              </a:rPr>
              <a:t> </a:t>
            </a:r>
            <a:r>
              <a:rPr sz="1460" b="0" dirty="0" err="1">
                <a:solidFill>
                  <a:srgbClr val="66788C"/>
                </a:solidFill>
                <a:latin typeface="Noto Sans"/>
              </a:rPr>
              <a:t>công</a:t>
            </a:r>
            <a:r>
              <a:rPr sz="1460" b="0" dirty="0">
                <a:solidFill>
                  <a:srgbClr val="66788C"/>
                </a:solidFill>
                <a:latin typeface="Noto Sans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84632" y="420624"/>
            <a:ext cx="91440" cy="347472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9768"/>
            <a:ext cx="6035040" cy="2651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A592"/>
                </a:solidFill>
                <a:latin typeface="Noto Sans"/>
              </a:rPr>
              <a:t>03 / THUẬT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50392"/>
            <a:ext cx="10698480" cy="6309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3263C"/>
                </a:solidFill>
                <a:latin typeface="Noto Sans"/>
              </a:rPr>
              <a:t>CatBoost = Gradient Boosting Decision Trees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572768"/>
            <a:ext cx="10515600" cy="4480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66788C"/>
                </a:solidFill>
                <a:latin typeface="Noto Sans"/>
              </a:rPr>
              <a:t>Một tổ hợp nhiều cây yếu, học lần lượt để sửa phần sai số còn lại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6464808"/>
            <a:ext cx="10698480" cy="0"/>
          </a:xfrm>
          <a:prstGeom prst="line">
            <a:avLst/>
          </a:prstGeom>
          <a:ln w="12700">
            <a:solidFill>
              <a:srgbClr val="D8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9808" y="6547104"/>
            <a:ext cx="548640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88C"/>
                </a:solidFill>
                <a:latin typeface="Noto Sans"/>
              </a:rPr>
              <a:t>CAR PRICE AI  /  CATBOOST REGRESSOR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19672"/>
            <a:ext cx="411480" cy="2103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88C"/>
                </a:solidFill>
                <a:latin typeface="Noto Sans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" y="2587752"/>
            <a:ext cx="1810512" cy="99669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2670048"/>
            <a:ext cx="1700784" cy="8412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3263C"/>
                </a:solidFill>
                <a:latin typeface="Noto Sans"/>
              </a:rPr>
              <a:t>F₀(x)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49039"/>
            <a:ext cx="2231136" cy="4846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88C"/>
                </a:solidFill>
                <a:latin typeface="Noto Sans"/>
              </a:rPr>
              <a:t>Dự đoán ban đầu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53512" y="3090672"/>
            <a:ext cx="621792" cy="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438144" y="2999232"/>
            <a:ext cx="137160" cy="9144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438144" y="3090672"/>
            <a:ext cx="137160" cy="9144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67912" y="2587752"/>
            <a:ext cx="1810512" cy="99669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22776" y="2670048"/>
            <a:ext cx="1700784" cy="8412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3263C"/>
                </a:solidFill>
                <a:latin typeface="Noto Sans"/>
              </a:rPr>
              <a:t>h₁(x)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6744" y="3749039"/>
            <a:ext cx="2231136" cy="4846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88C"/>
                </a:solidFill>
                <a:latin typeface="Noto Sans"/>
              </a:rPr>
              <a:t>Cây sửa lỗi #1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43016" y="3090672"/>
            <a:ext cx="621792" cy="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327648" y="2999232"/>
            <a:ext cx="137160" cy="9144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327648" y="3090672"/>
            <a:ext cx="137160" cy="9144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766560" y="2587752"/>
            <a:ext cx="1810512" cy="99669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21424" y="2670048"/>
            <a:ext cx="1700784" cy="8412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3263C"/>
                </a:solidFill>
                <a:latin typeface="Noto Sans"/>
              </a:rPr>
              <a:t>h₂(x)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3749039"/>
            <a:ext cx="2231136" cy="4846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88C"/>
                </a:solidFill>
                <a:latin typeface="Noto Sans"/>
              </a:rPr>
              <a:t>Cây sửa lỗi #2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41664" y="3090672"/>
            <a:ext cx="621792" cy="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226296" y="2999232"/>
            <a:ext cx="137160" cy="9144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226296" y="3090672"/>
            <a:ext cx="137160" cy="9144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637776" y="2587752"/>
            <a:ext cx="1810512" cy="99669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92640" y="2670048"/>
            <a:ext cx="1700784" cy="8412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3263C"/>
                </a:solidFill>
                <a:latin typeface="Noto Sans"/>
              </a:rPr>
              <a:t>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36607" y="3749039"/>
            <a:ext cx="2231136" cy="4846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88C"/>
                </a:solidFill>
                <a:latin typeface="Noto Sans"/>
              </a:rPr>
              <a:t>Cây tiếp theo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4956048"/>
            <a:ext cx="9948672" cy="676656"/>
          </a:xfrm>
          <a:prstGeom prst="roundRect">
            <a:avLst>
              <a:gd name="adj" fmla="val 16000"/>
            </a:avLst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554480" y="5111496"/>
            <a:ext cx="9015984" cy="33832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3263C"/>
                </a:solidFill>
                <a:latin typeface="Noto Sans"/>
              </a:rPr>
              <a:t>Fₘ(x) = Fₘ₋₁(x) + η · hₘ(x)     |     η = learning 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84632" y="420624"/>
            <a:ext cx="91440" cy="347472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9768"/>
            <a:ext cx="6035040" cy="2651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A592"/>
                </a:solidFill>
                <a:latin typeface="Noto Sans"/>
              </a:rPr>
              <a:t>04 / TOÁN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50392"/>
            <a:ext cx="10698480" cy="6309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3263C"/>
                </a:solidFill>
                <a:latin typeface="Noto Sans"/>
              </a:rPr>
              <a:t>Mô hình tối ưu hàm mất mát ra sao?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464808"/>
            <a:ext cx="10698480" cy="0"/>
          </a:xfrm>
          <a:prstGeom prst="line">
            <a:avLst/>
          </a:prstGeom>
          <a:ln w="12700">
            <a:solidFill>
              <a:srgbClr val="D8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6547104"/>
            <a:ext cx="548640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88C"/>
                </a:solidFill>
                <a:latin typeface="Noto Sans"/>
              </a:rPr>
              <a:t>CAR PRICE AI  /  CATBOOST REGRESSOR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411480" cy="2103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88C"/>
                </a:solidFill>
                <a:latin typeface="Noto San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1938528"/>
            <a:ext cx="4983480" cy="346557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24128" y="2139696"/>
            <a:ext cx="82296" cy="310896"/>
          </a:xfrm>
          <a:prstGeom prst="rect">
            <a:avLst/>
          </a:prstGeom>
          <a:solidFill>
            <a:srgbClr val="507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07008" y="2121408"/>
            <a:ext cx="4434840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3263C"/>
                </a:solidFill>
                <a:latin typeface="Noto Sans"/>
              </a:rPr>
              <a:t>SQUARED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743200"/>
            <a:ext cx="4434840" cy="2514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60" b="0">
                <a:solidFill>
                  <a:srgbClr val="66788C"/>
                </a:solidFill>
                <a:latin typeface="Noto Sans"/>
              </a:rPr>
              <a:t>L = (1/n) Σᵢ (yᵢ − ŷᵢ)²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endParaRPr sz="1460" b="0">
              <a:solidFill>
                <a:srgbClr val="66788C"/>
              </a:solidFill>
              <a:latin typeface="Noto Sans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60" b="0">
                <a:solidFill>
                  <a:srgbClr val="66788C"/>
                </a:solidFill>
                <a:latin typeface="Noto Sans"/>
              </a:rPr>
              <a:t>Gradient: ∂L/∂ŷᵢ ∝ (ŷᵢ − yᵢ)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9904" y="1938528"/>
            <a:ext cx="5294376" cy="346557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72784" y="2139696"/>
            <a:ext cx="82296" cy="310896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2121408"/>
            <a:ext cx="4745736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3263C"/>
                </a:solidFill>
                <a:latin typeface="Noto Sans"/>
              </a:rPr>
              <a:t>NGUYÊN LÝ BOOSTING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743200"/>
            <a:ext cx="4745736" cy="25146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60" b="0">
                <a:solidFill>
                  <a:srgbClr val="66788C"/>
                </a:solidFill>
                <a:latin typeface="Noto Sans"/>
              </a:rPr>
              <a:t>Cây mới xấp xỉ hướng giảm gradient.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endParaRPr sz="1460" b="0">
              <a:solidFill>
                <a:srgbClr val="66788C"/>
              </a:solidFill>
              <a:latin typeface="Noto Sans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60" b="0">
                <a:solidFill>
                  <a:srgbClr val="66788C"/>
                </a:solidFill>
                <a:latin typeface="Noto Sans"/>
              </a:rPr>
              <a:t>Với squared error, hướng sửa tỷ lệ với phần dư: yᵢ − ŷᵢ.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6208776"/>
            <a:ext cx="10332720" cy="2103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6788C"/>
                </a:solidFill>
                <a:latin typeface="Noto Sans"/>
              </a:rPr>
              <a:t>Minh họa lý thuyết GBDT; CatBoost có cơ chế tối ưu nội bộ phức tạp hơn công thức giản lược.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84632" y="420624"/>
            <a:ext cx="91440" cy="347472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9768"/>
            <a:ext cx="6035040" cy="2651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A592"/>
                </a:solidFill>
                <a:latin typeface="Noto Sans"/>
              </a:rPr>
              <a:t>04 / TOÁN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50392"/>
            <a:ext cx="10698480" cy="6309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3263C"/>
                </a:solidFill>
                <a:latin typeface="Noto Sans"/>
              </a:rPr>
              <a:t>Cây đối xứng: cùng phép tách ở mỗi tầng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572768"/>
            <a:ext cx="10515600" cy="4480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 dirty="0">
                <a:solidFill>
                  <a:srgbClr val="66788C"/>
                </a:solidFill>
                <a:latin typeface="Noto Sans"/>
              </a:rPr>
              <a:t>Model </a:t>
            </a:r>
            <a:r>
              <a:rPr sz="1530" b="0" dirty="0" err="1">
                <a:solidFill>
                  <a:srgbClr val="66788C"/>
                </a:solidFill>
                <a:latin typeface="Noto Sans"/>
              </a:rPr>
              <a:t>của</a:t>
            </a:r>
            <a:r>
              <a:rPr sz="1530" b="0" dirty="0">
                <a:solidFill>
                  <a:srgbClr val="66788C"/>
                </a:solidFill>
                <a:latin typeface="Noto Sans"/>
              </a:rPr>
              <a:t> </a:t>
            </a:r>
            <a:r>
              <a:rPr sz="1530" b="0" dirty="0" err="1">
                <a:solidFill>
                  <a:srgbClr val="66788C"/>
                </a:solidFill>
                <a:latin typeface="Noto Sans"/>
              </a:rPr>
              <a:t>dự</a:t>
            </a:r>
            <a:r>
              <a:rPr sz="1530" b="0" dirty="0">
                <a:solidFill>
                  <a:srgbClr val="66788C"/>
                </a:solidFill>
                <a:latin typeface="Noto Sans"/>
              </a:rPr>
              <a:t> </a:t>
            </a:r>
            <a:r>
              <a:rPr sz="1530" b="0" dirty="0" err="1">
                <a:solidFill>
                  <a:srgbClr val="66788C"/>
                </a:solidFill>
                <a:latin typeface="Noto Sans"/>
              </a:rPr>
              <a:t>án</a:t>
            </a:r>
            <a:r>
              <a:rPr sz="1530" b="0" dirty="0">
                <a:solidFill>
                  <a:srgbClr val="66788C"/>
                </a:solidFill>
                <a:latin typeface="Noto Sans"/>
              </a:rPr>
              <a:t> </a:t>
            </a:r>
            <a:r>
              <a:rPr sz="1530" b="0" dirty="0" err="1">
                <a:solidFill>
                  <a:srgbClr val="66788C"/>
                </a:solidFill>
                <a:latin typeface="Noto Sans"/>
              </a:rPr>
              <a:t>sử</a:t>
            </a:r>
            <a:r>
              <a:rPr sz="1530" b="0" dirty="0">
                <a:solidFill>
                  <a:srgbClr val="66788C"/>
                </a:solidFill>
                <a:latin typeface="Noto Sans"/>
              </a:rPr>
              <a:t> </a:t>
            </a:r>
            <a:r>
              <a:rPr sz="1530" b="0" dirty="0" err="1">
                <a:solidFill>
                  <a:srgbClr val="66788C"/>
                </a:solidFill>
                <a:latin typeface="Noto Sans"/>
              </a:rPr>
              <a:t>dụng</a:t>
            </a:r>
            <a:r>
              <a:rPr sz="1530" b="0" dirty="0">
                <a:solidFill>
                  <a:srgbClr val="66788C"/>
                </a:solidFill>
                <a:latin typeface="Noto Sans"/>
              </a:rPr>
              <a:t> </a:t>
            </a:r>
            <a:r>
              <a:rPr sz="1530" b="0" dirty="0" err="1">
                <a:solidFill>
                  <a:srgbClr val="66788C"/>
                </a:solidFill>
                <a:latin typeface="Noto Sans"/>
              </a:rPr>
              <a:t>SymmetricTree</a:t>
            </a:r>
            <a:r>
              <a:rPr sz="1530" b="0" dirty="0">
                <a:solidFill>
                  <a:srgbClr val="66788C"/>
                </a:solidFill>
                <a:latin typeface="Noto Sans"/>
              </a:rPr>
              <a:t>, depth = 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6464808"/>
            <a:ext cx="10698480" cy="0"/>
          </a:xfrm>
          <a:prstGeom prst="line">
            <a:avLst/>
          </a:prstGeom>
          <a:ln w="12700">
            <a:solidFill>
              <a:srgbClr val="D8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9808" y="6547104"/>
            <a:ext cx="548640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88C"/>
                </a:solidFill>
                <a:latin typeface="Noto Sans"/>
              </a:rPr>
              <a:t>CAR PRICE AI  /  CATBOOST REGRESSOR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19672"/>
            <a:ext cx="411480" cy="2103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88C"/>
                </a:solidFill>
                <a:latin typeface="Noto Sans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02352" y="1920240"/>
            <a:ext cx="2011680" cy="603504"/>
          </a:xfrm>
          <a:prstGeom prst="roundRect">
            <a:avLst>
              <a:gd name="adj" fmla="val 16000"/>
            </a:avLst>
          </a:prstGeom>
          <a:solidFill>
            <a:srgbClr val="EAF7F3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57216" y="2002536"/>
            <a:ext cx="1901952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3263C"/>
                </a:solidFill>
                <a:latin typeface="Noto Sans"/>
              </a:rPr>
              <a:t>year &gt; 2018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3118104"/>
            <a:ext cx="2057400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32304" y="3200400"/>
            <a:ext cx="1947672" cy="4480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263C"/>
                </a:solidFill>
                <a:latin typeface="Noto Sans"/>
              </a:rPr>
              <a:t>engine &gt; 2.0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62672" y="3118104"/>
            <a:ext cx="2057400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17536" y="3306350"/>
            <a:ext cx="1947672" cy="23615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13263C"/>
                </a:solidFill>
                <a:latin typeface="Noto Sans"/>
              </a:rPr>
              <a:t>engine </a:t>
            </a:r>
            <a:r>
              <a:rPr lang="en-US" sz="1400" b="1" dirty="0">
                <a:solidFill>
                  <a:srgbClr val="13263C"/>
                </a:solidFill>
                <a:latin typeface="Noto Sans"/>
              </a:rPr>
              <a:t>&lt;</a:t>
            </a:r>
            <a:r>
              <a:rPr sz="1400" b="1" dirty="0">
                <a:solidFill>
                  <a:srgbClr val="13263C"/>
                </a:solidFill>
                <a:latin typeface="Noto Sans"/>
              </a:rPr>
              <a:t> 2.0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4462272"/>
            <a:ext cx="1234440" cy="548640"/>
          </a:xfrm>
          <a:prstGeom prst="roundRect">
            <a:avLst>
              <a:gd name="adj" fmla="val 16000"/>
            </a:avLst>
          </a:prstGeom>
          <a:solidFill>
            <a:srgbClr val="D8EAF2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17904" y="4544568"/>
            <a:ext cx="1124712" cy="393191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3263C"/>
                </a:solidFill>
                <a:latin typeface="Noto Sans"/>
              </a:rPr>
              <a:t>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59352" y="4462272"/>
            <a:ext cx="1234440" cy="548640"/>
          </a:xfrm>
          <a:prstGeom prst="roundRect">
            <a:avLst>
              <a:gd name="adj" fmla="val 16000"/>
            </a:avLst>
          </a:prstGeom>
          <a:solidFill>
            <a:srgbClr val="D8EAF2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14215" y="4544568"/>
            <a:ext cx="1124712" cy="393191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3263C"/>
                </a:solidFill>
                <a:latin typeface="Noto Sans"/>
              </a:rPr>
              <a:t>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38544" y="4462272"/>
            <a:ext cx="1234440" cy="548640"/>
          </a:xfrm>
          <a:prstGeom prst="roundRect">
            <a:avLst>
              <a:gd name="adj" fmla="val 16000"/>
            </a:avLst>
          </a:prstGeom>
          <a:solidFill>
            <a:srgbClr val="D8EAF2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93407" y="4544568"/>
            <a:ext cx="1124712" cy="393191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3263C"/>
                </a:solidFill>
                <a:latin typeface="Noto Sans"/>
              </a:rPr>
              <a:t>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34856" y="4462272"/>
            <a:ext cx="1234440" cy="548640"/>
          </a:xfrm>
          <a:prstGeom prst="roundRect">
            <a:avLst>
              <a:gd name="adj" fmla="val 16000"/>
            </a:avLst>
          </a:prstGeom>
          <a:solidFill>
            <a:srgbClr val="D8EAF2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9720" y="4544568"/>
            <a:ext cx="1124712" cy="393191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3263C"/>
                </a:solidFill>
                <a:latin typeface="Noto Sans"/>
              </a:rPr>
              <a:t>D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401568" y="2523744"/>
            <a:ext cx="2697480" cy="594360"/>
          </a:xfrm>
          <a:prstGeom prst="line">
            <a:avLst/>
          </a:prstGeom>
          <a:ln w="2540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99048" y="2523744"/>
            <a:ext cx="2587752" cy="594360"/>
          </a:xfrm>
          <a:prstGeom prst="line">
            <a:avLst/>
          </a:prstGeom>
          <a:ln w="2540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075688" y="3721608"/>
            <a:ext cx="1325880" cy="740664"/>
          </a:xfrm>
          <a:prstGeom prst="line">
            <a:avLst/>
          </a:prstGeom>
          <a:ln w="2540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401568" y="3721608"/>
            <a:ext cx="1170432" cy="740664"/>
          </a:xfrm>
          <a:prstGeom prst="line">
            <a:avLst/>
          </a:prstGeom>
          <a:ln w="2540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7251192" y="3721608"/>
            <a:ext cx="1435608" cy="740664"/>
          </a:xfrm>
          <a:prstGeom prst="line">
            <a:avLst/>
          </a:prstGeom>
          <a:ln w="2540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686800" y="3721608"/>
            <a:ext cx="1078992" cy="740664"/>
          </a:xfrm>
          <a:prstGeom prst="line">
            <a:avLst/>
          </a:prstGeom>
          <a:ln w="2540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200400" y="5614416"/>
            <a:ext cx="5788152" cy="384048"/>
          </a:xfrm>
          <a:prstGeom prst="roundRect">
            <a:avLst>
              <a:gd name="adj" fmla="val 16000"/>
            </a:avLst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91840" y="5669279"/>
            <a:ext cx="5605272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A592"/>
                </a:solidFill>
                <a:latin typeface="Noto Sans"/>
              </a:rPr>
              <a:t>Depth 6 → tối đa 2⁶ = 64 lá trên mỗi cây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6208776"/>
            <a:ext cx="10332720" cy="2103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6788C"/>
                </a:solidFill>
                <a:latin typeface="Noto Sans"/>
              </a:rPr>
              <a:t>Sơ đồ 2 tầng minh họa; model thật có depth 6. CatBoost docs [R4].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84632" y="420624"/>
            <a:ext cx="91440" cy="347472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9768"/>
            <a:ext cx="6035040" cy="2651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A592"/>
                </a:solidFill>
                <a:latin typeface="Noto Sans"/>
              </a:rPr>
              <a:t>03 / HUẤN LUYỆN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50392"/>
            <a:ext cx="10698480" cy="6309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3263C"/>
                </a:solidFill>
                <a:latin typeface="Noto Sans"/>
              </a:rPr>
              <a:t>Cấu hình CatBoost đã sử dụng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464808"/>
            <a:ext cx="10698480" cy="0"/>
          </a:xfrm>
          <a:prstGeom prst="line">
            <a:avLst/>
          </a:prstGeom>
          <a:ln w="12700">
            <a:solidFill>
              <a:srgbClr val="D8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6547104"/>
            <a:ext cx="548640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88C"/>
                </a:solidFill>
                <a:latin typeface="Noto Sans"/>
              </a:rPr>
              <a:t>CAR PRICE AI  /  CATBOOST REGRESSOR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411480" cy="2103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88C"/>
                </a:solidFill>
                <a:latin typeface="Noto Sans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969264" y="1819656"/>
            <a:ext cx="3236976" cy="457200"/>
          </a:xfrm>
          <a:prstGeom prst="rect">
            <a:avLst/>
          </a:prstGeom>
          <a:solidFill>
            <a:srgbClr val="13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0704" y="1901952"/>
            <a:ext cx="3054096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"/>
              </a:rPr>
              <a:t>THAM SỐ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819656"/>
            <a:ext cx="2011680" cy="457200"/>
          </a:xfrm>
          <a:prstGeom prst="rect">
            <a:avLst/>
          </a:prstGeom>
          <a:solidFill>
            <a:srgbClr val="13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79" y="1901952"/>
            <a:ext cx="1828800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"/>
              </a:rPr>
              <a:t>GIÁ TRỊ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19656"/>
            <a:ext cx="5001768" cy="457200"/>
          </a:xfrm>
          <a:prstGeom prst="rect">
            <a:avLst/>
          </a:prstGeom>
          <a:solidFill>
            <a:srgbClr val="13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59" y="1901952"/>
            <a:ext cx="4818888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"/>
              </a:rPr>
              <a:t>VAI TRÒ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" y="2276856"/>
            <a:ext cx="3236976" cy="521207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0704" y="2359152"/>
            <a:ext cx="3063240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>
                <a:solidFill>
                  <a:srgbClr val="22364A"/>
                </a:solidFill>
                <a:latin typeface="Noto Sans"/>
              </a:rPr>
              <a:t>iterations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2276856"/>
            <a:ext cx="2011680" cy="521207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79" y="2359152"/>
            <a:ext cx="1837944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>
                <a:solidFill>
                  <a:srgbClr val="22364A"/>
                </a:solidFill>
                <a:latin typeface="Noto Sans"/>
              </a:rPr>
              <a:t>2000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276856"/>
            <a:ext cx="5001768" cy="521207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59" y="2359152"/>
            <a:ext cx="4828031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>
                <a:solidFill>
                  <a:srgbClr val="22364A"/>
                </a:solidFill>
                <a:latin typeface="Noto Sans"/>
              </a:rPr>
              <a:t>Số vòng boosting tối đa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" y="2798064"/>
            <a:ext cx="3236976" cy="521207"/>
          </a:xfrm>
          <a:prstGeom prst="rect">
            <a:avLst/>
          </a:prstGeom>
          <a:solidFill>
            <a:srgbClr val="EEF4F8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0704" y="2880360"/>
            <a:ext cx="3063240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>
                <a:solidFill>
                  <a:srgbClr val="22364A"/>
                </a:solidFill>
                <a:latin typeface="Noto Sans"/>
              </a:rPr>
              <a:t>depth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2798064"/>
            <a:ext cx="2011680" cy="521207"/>
          </a:xfrm>
          <a:prstGeom prst="rect">
            <a:avLst/>
          </a:prstGeom>
          <a:solidFill>
            <a:srgbClr val="EEF4F8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97679" y="2880360"/>
            <a:ext cx="1837944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>
                <a:solidFill>
                  <a:srgbClr val="22364A"/>
                </a:solidFill>
                <a:latin typeface="Noto Sans"/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798064"/>
            <a:ext cx="5001768" cy="521207"/>
          </a:xfrm>
          <a:prstGeom prst="rect">
            <a:avLst/>
          </a:prstGeom>
          <a:solidFill>
            <a:srgbClr val="EEF4F8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59" y="2880360"/>
            <a:ext cx="4828031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>
                <a:solidFill>
                  <a:srgbClr val="22364A"/>
                </a:solidFill>
                <a:latin typeface="Noto Sans"/>
              </a:rPr>
              <a:t>Độ sâu mỗi cây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" y="3319272"/>
            <a:ext cx="3236976" cy="521207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0704" y="3401568"/>
            <a:ext cx="3063240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>
                <a:solidFill>
                  <a:srgbClr val="22364A"/>
                </a:solidFill>
                <a:latin typeface="Noto Sans"/>
              </a:rPr>
              <a:t>learning_rate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3319272"/>
            <a:ext cx="2011680" cy="521207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97679" y="3401568"/>
            <a:ext cx="1837944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>
                <a:solidFill>
                  <a:srgbClr val="22364A"/>
                </a:solidFill>
                <a:latin typeface="Noto Sans"/>
              </a:rPr>
              <a:t>0.05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319272"/>
            <a:ext cx="5001768" cy="521207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59" y="3401568"/>
            <a:ext cx="4828031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>
                <a:solidFill>
                  <a:srgbClr val="22364A"/>
                </a:solidFill>
                <a:latin typeface="Noto Sans"/>
              </a:rPr>
              <a:t>Mức đóng góp cây mới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64" y="3840480"/>
            <a:ext cx="3236976" cy="521207"/>
          </a:xfrm>
          <a:prstGeom prst="rect">
            <a:avLst/>
          </a:prstGeom>
          <a:solidFill>
            <a:srgbClr val="EEF4F8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60704" y="3922776"/>
            <a:ext cx="3063240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>
                <a:solidFill>
                  <a:srgbClr val="22364A"/>
                </a:solidFill>
                <a:latin typeface="Noto Sans"/>
              </a:rPr>
              <a:t>loss_function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3840480"/>
            <a:ext cx="2011680" cy="521207"/>
          </a:xfrm>
          <a:prstGeom prst="rect">
            <a:avLst/>
          </a:prstGeom>
          <a:solidFill>
            <a:srgbClr val="EEF4F8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97679" y="3922776"/>
            <a:ext cx="1837944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>
                <a:solidFill>
                  <a:srgbClr val="22364A"/>
                </a:solidFill>
                <a:latin typeface="Noto Sans"/>
              </a:rPr>
              <a:t>RMSE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840480"/>
            <a:ext cx="5001768" cy="521207"/>
          </a:xfrm>
          <a:prstGeom prst="rect">
            <a:avLst/>
          </a:prstGeom>
          <a:solidFill>
            <a:srgbClr val="EEF4F8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09359" y="3922776"/>
            <a:ext cx="4828031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>
                <a:solidFill>
                  <a:srgbClr val="22364A"/>
                </a:solidFill>
                <a:latin typeface="Noto Sans"/>
              </a:rPr>
              <a:t>Mục tiêu huấn luyện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9264" y="4361688"/>
            <a:ext cx="3236976" cy="521207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60704" y="4443983"/>
            <a:ext cx="3063240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>
                <a:solidFill>
                  <a:srgbClr val="22364A"/>
                </a:solidFill>
                <a:latin typeface="Noto Sans"/>
              </a:rPr>
              <a:t>eval_metric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0" y="4361688"/>
            <a:ext cx="2011680" cy="521207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297679" y="4443983"/>
            <a:ext cx="1837944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>
                <a:solidFill>
                  <a:srgbClr val="22364A"/>
                </a:solidFill>
                <a:latin typeface="Noto Sans"/>
              </a:rPr>
              <a:t>MAE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4361688"/>
            <a:ext cx="5001768" cy="521207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09359" y="4443983"/>
            <a:ext cx="4828031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>
                <a:solidFill>
                  <a:srgbClr val="22364A"/>
                </a:solidFill>
                <a:latin typeface="Noto Sans"/>
              </a:rPr>
              <a:t>Theo dõi Validation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9264" y="4882896"/>
            <a:ext cx="3236976" cy="521207"/>
          </a:xfrm>
          <a:prstGeom prst="rect">
            <a:avLst/>
          </a:prstGeom>
          <a:solidFill>
            <a:srgbClr val="EEF4F8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60704" y="4965192"/>
            <a:ext cx="3063240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>
                <a:solidFill>
                  <a:srgbClr val="22364A"/>
                </a:solidFill>
                <a:latin typeface="Noto Sans"/>
              </a:rPr>
              <a:t>l2_leaf_reg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4882896"/>
            <a:ext cx="2011680" cy="521207"/>
          </a:xfrm>
          <a:prstGeom prst="rect">
            <a:avLst/>
          </a:prstGeom>
          <a:solidFill>
            <a:srgbClr val="EEF4F8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297679" y="4965192"/>
            <a:ext cx="1837944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>
                <a:solidFill>
                  <a:srgbClr val="22364A"/>
                </a:solidFill>
                <a:latin typeface="Noto Sans"/>
              </a:rPr>
              <a:t>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4882896"/>
            <a:ext cx="5001768" cy="521207"/>
          </a:xfrm>
          <a:prstGeom prst="rect">
            <a:avLst/>
          </a:prstGeom>
          <a:solidFill>
            <a:srgbClr val="EEF4F8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09359" y="4965192"/>
            <a:ext cx="4828031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>
                <a:solidFill>
                  <a:srgbClr val="22364A"/>
                </a:solidFill>
                <a:latin typeface="Noto Sans"/>
              </a:rPr>
              <a:t>Regularization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9264" y="5404104"/>
            <a:ext cx="3236976" cy="521207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60704" y="5486400"/>
            <a:ext cx="3063240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>
                <a:solidFill>
                  <a:srgbClr val="22364A"/>
                </a:solidFill>
                <a:latin typeface="Noto Sans"/>
              </a:rPr>
              <a:t>early_stopping_rounds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06240" y="5404104"/>
            <a:ext cx="2011680" cy="521207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297679" y="5486400"/>
            <a:ext cx="1837944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>
                <a:solidFill>
                  <a:srgbClr val="22364A"/>
                </a:solidFill>
                <a:latin typeface="Noto Sans"/>
              </a:rPr>
              <a:t>100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5404104"/>
            <a:ext cx="5001768" cy="521207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309359" y="5486400"/>
            <a:ext cx="4828031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>
                <a:solidFill>
                  <a:srgbClr val="22364A"/>
                </a:solidFill>
                <a:latin typeface="Noto Sans"/>
              </a:rPr>
              <a:t>Ngừng nếu validation không tiến bộ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904487" y="6080760"/>
            <a:ext cx="4370832" cy="384048"/>
          </a:xfrm>
          <a:prstGeom prst="roundRect">
            <a:avLst>
              <a:gd name="adj" fmla="val 16000"/>
            </a:avLst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995927" y="6135624"/>
            <a:ext cx="4187952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07FF1"/>
                </a:solidFill>
                <a:latin typeface="Noto Sans"/>
              </a:rPr>
              <a:t>Best iteration thực tế: 1999 / 1999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84632" y="420624"/>
            <a:ext cx="91440" cy="347472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9768"/>
            <a:ext cx="6035040" cy="2651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A592"/>
                </a:solidFill>
                <a:latin typeface="Noto Sans"/>
              </a:rPr>
              <a:t>05 /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50392"/>
            <a:ext cx="10698480" cy="6309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3263C"/>
                </a:solidFill>
                <a:latin typeface="Noto Sans"/>
              </a:rPr>
              <a:t>Toàn bộ pipeline: file nào tạo file nào?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464808"/>
            <a:ext cx="10698480" cy="0"/>
          </a:xfrm>
          <a:prstGeom prst="line">
            <a:avLst/>
          </a:prstGeom>
          <a:ln w="12700">
            <a:solidFill>
              <a:srgbClr val="D8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6547104"/>
            <a:ext cx="548640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88C"/>
                </a:solidFill>
                <a:latin typeface="Noto Sans"/>
              </a:rPr>
              <a:t>CAR PRICE AI  /  CATBOOST REGRESSOR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411480" cy="2103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88C"/>
                </a:solidFill>
                <a:latin typeface="Noto Sans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414016"/>
            <a:ext cx="2478024" cy="9418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2496312"/>
            <a:ext cx="2368296" cy="7863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13263C"/>
                </a:solidFill>
                <a:latin typeface="Noto Sans"/>
              </a:rPr>
              <a:t>data_check.py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57016"/>
            <a:ext cx="2441448" cy="4846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88C"/>
                </a:solidFill>
                <a:latin typeface="Noto Sans"/>
              </a:rPr>
              <a:t>Inspect raw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36976" y="2871216"/>
            <a:ext cx="292608" cy="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392424" y="2779776"/>
            <a:ext cx="137160" cy="9144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392424" y="2871216"/>
            <a:ext cx="137160" cy="9144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57600" y="2414016"/>
            <a:ext cx="2478024" cy="9418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12463" y="2496312"/>
            <a:ext cx="2368296" cy="7863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13263C"/>
                </a:solidFill>
                <a:latin typeface="Noto Sans"/>
              </a:rPr>
              <a:t>preprocess.py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557016"/>
            <a:ext cx="2441448" cy="4846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88C"/>
                </a:solidFill>
                <a:latin typeface="Noto Sans"/>
              </a:rPr>
              <a:t>Raw → clean CSV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44768" y="2871216"/>
            <a:ext cx="292608" cy="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300216" y="2779776"/>
            <a:ext cx="137160" cy="9144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300216" y="2871216"/>
            <a:ext cx="137160" cy="9144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65392" y="2414016"/>
            <a:ext cx="2478024" cy="9418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0256" y="2496312"/>
            <a:ext cx="2368296" cy="7863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3263C"/>
                </a:solidFill>
                <a:latin typeface="Noto Sans"/>
              </a:rPr>
              <a:t>train.py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2824" y="3557016"/>
            <a:ext cx="2441448" cy="4846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88C"/>
                </a:solidFill>
                <a:latin typeface="Noto Sans"/>
              </a:rPr>
              <a:t>Clean → model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52560" y="2871216"/>
            <a:ext cx="292608" cy="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208008" y="2779776"/>
            <a:ext cx="137160" cy="9144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208008" y="2871216"/>
            <a:ext cx="137160" cy="9144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473184" y="2414016"/>
            <a:ext cx="2478024" cy="9418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28048" y="2496312"/>
            <a:ext cx="2368296" cy="7863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13263C"/>
                </a:solidFill>
                <a:latin typeface="Noto Sans"/>
              </a:rPr>
              <a:t>evaluate.py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557016"/>
            <a:ext cx="2441448" cy="4846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88C"/>
                </a:solidFill>
                <a:latin typeface="Noto Sans"/>
              </a:rPr>
              <a:t>Model → reports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71416" y="4809744"/>
            <a:ext cx="3300984" cy="813816"/>
          </a:xfrm>
          <a:prstGeom prst="roundRect">
            <a:avLst>
              <a:gd name="adj" fmla="val 16000"/>
            </a:avLst>
          </a:prstGeom>
          <a:solidFill>
            <a:srgbClr val="EAF7F3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26279" y="4892040"/>
            <a:ext cx="3191256" cy="65836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3263C"/>
                </a:solidFill>
                <a:latin typeface="Noto Sans"/>
              </a:rPr>
              <a:t>run.py → giá xe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00800" y="3886200"/>
            <a:ext cx="0" cy="82296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309360" y="4581144"/>
            <a:ext cx="91440" cy="128016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6400800" y="4581144"/>
            <a:ext cx="91440" cy="128016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49808" y="6208776"/>
            <a:ext cx="10332720" cy="2103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6788C"/>
                </a:solidFill>
                <a:latin typeface="Noto Sans"/>
              </a:rPr>
              <a:t>Sau train, evaluate.py và run.py là 2 nhánh tiêu thụ model; evaluate.py không bắt buộc chạy trước run.py.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84632" y="420624"/>
            <a:ext cx="91440" cy="347472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9768"/>
            <a:ext cx="6035040" cy="2651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A592"/>
                </a:solidFill>
                <a:latin typeface="Noto Sans"/>
              </a:rPr>
              <a:t>05 / CODE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50392"/>
            <a:ext cx="10698480" cy="6309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3263C"/>
                </a:solidFill>
                <a:latin typeface="Noto Sans"/>
              </a:rPr>
              <a:t>data_check.py và preprocess.py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464808"/>
            <a:ext cx="10698480" cy="0"/>
          </a:xfrm>
          <a:prstGeom prst="line">
            <a:avLst/>
          </a:prstGeom>
          <a:ln w="12700">
            <a:solidFill>
              <a:srgbClr val="D8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6547104"/>
            <a:ext cx="548640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88C"/>
                </a:solidFill>
                <a:latin typeface="Noto Sans"/>
              </a:rPr>
              <a:t>CAR PRICE AI  /  CATBOOST REGRESSOR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411480" cy="2103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88C"/>
                </a:solidFill>
                <a:latin typeface="Noto Sans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" y="1938528"/>
            <a:ext cx="5257800" cy="35935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96696" y="2139696"/>
            <a:ext cx="82296" cy="310896"/>
          </a:xfrm>
          <a:prstGeom prst="rect">
            <a:avLst/>
          </a:prstGeom>
          <a:solidFill>
            <a:srgbClr val="507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9576" y="2121408"/>
            <a:ext cx="4709160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3263C"/>
                </a:solidFill>
                <a:latin typeface="Noto Sans"/>
              </a:rPr>
              <a:t>data_check.py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2743200"/>
            <a:ext cx="4709160" cy="264261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60" b="0">
                <a:solidFill>
                  <a:srgbClr val="66788C"/>
                </a:solidFill>
                <a:latin typeface="Noto Sans"/>
              </a:rPr>
              <a:t>Không tạo CSV mới.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endParaRPr sz="1460" b="0">
              <a:solidFill>
                <a:srgbClr val="66788C"/>
              </a:solidFill>
              <a:latin typeface="Noto Sans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60" b="0">
                <a:solidFill>
                  <a:srgbClr val="66788C"/>
                </a:solidFill>
                <a:latin typeface="Noto Sans"/>
              </a:rPr>
              <a:t>Kiểm tra shape, dtype, NaN, trùng lặp, tình trạng xe.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938528"/>
            <a:ext cx="5111496" cy="35935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28232" y="2139696"/>
            <a:ext cx="82296" cy="310896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11112" y="2121408"/>
            <a:ext cx="4562856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3263C"/>
                </a:solidFill>
                <a:latin typeface="Noto Sans"/>
              </a:rPr>
              <a:t>preprocess.py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743200"/>
            <a:ext cx="4562856" cy="264261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30" b="0">
                <a:solidFill>
                  <a:srgbClr val="66788C"/>
                </a:solidFill>
                <a:latin typeface="Noto Sans"/>
              </a:rPr>
              <a:t>parse_price  •  parse_mileage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30" b="0">
                <a:solidFill>
                  <a:srgbClr val="66788C"/>
                </a:solidFill>
                <a:latin typeface="Noto Sans"/>
              </a:rPr>
              <a:t>parse_fuel_type  •  parse_engine_liters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30" b="0">
                <a:solidFill>
                  <a:srgbClr val="66788C"/>
                </a:solidFill>
                <a:latin typeface="Noto Sans"/>
              </a:rPr>
              <a:t>parse_count  •  parse_fuel_consumption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30" b="0">
                <a:solidFill>
                  <a:srgbClr val="66788C"/>
                </a:solidFill>
                <a:latin typeface="Noto Sans"/>
              </a:rPr>
              <a:t>clean_category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48256" y="5724144"/>
            <a:ext cx="8092440" cy="393192"/>
          </a:xfrm>
          <a:prstGeom prst="roundRect">
            <a:avLst>
              <a:gd name="adj" fmla="val 16000"/>
            </a:avLst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04288" y="5779008"/>
            <a:ext cx="7543800" cy="2651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263C"/>
                </a:solidFill>
                <a:latin typeface="Noto Sans"/>
              </a:rPr>
              <a:t>Đầu ra: data/processed/cars_clean_v2.csv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84632" y="420624"/>
            <a:ext cx="91440" cy="347472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9768"/>
            <a:ext cx="6035040" cy="2651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A592"/>
                </a:solidFill>
                <a:latin typeface="Noto Sans"/>
              </a:rPr>
              <a:t>05 / CODE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50392"/>
            <a:ext cx="10698480" cy="6309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3263C"/>
                </a:solidFill>
                <a:latin typeface="Noto Sans"/>
              </a:rPr>
              <a:t>train.py: một mô hình, ba tập dữ liệu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464808"/>
            <a:ext cx="10698480" cy="0"/>
          </a:xfrm>
          <a:prstGeom prst="line">
            <a:avLst/>
          </a:prstGeom>
          <a:ln w="12700">
            <a:solidFill>
              <a:srgbClr val="D8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6547104"/>
            <a:ext cx="548640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88C"/>
                </a:solidFill>
                <a:latin typeface="Noto Sans"/>
              </a:rPr>
              <a:t>CAR PRICE AI  /  CATBOOST REGRESSOR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411480" cy="2103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88C"/>
                </a:solidFill>
                <a:latin typeface="Noto Sans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2176272"/>
            <a:ext cx="2743200" cy="6675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2258568"/>
            <a:ext cx="2633472" cy="51206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263C"/>
                </a:solidFill>
                <a:latin typeface="Noto Sans"/>
              </a:rPr>
              <a:t>Load &amp; định nghĩa X / 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90872" y="2176272"/>
            <a:ext cx="2779776" cy="6675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45736" y="2258568"/>
            <a:ext cx="2670048" cy="51206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263C"/>
                </a:solidFill>
                <a:latin typeface="Noto Sans"/>
              </a:rPr>
              <a:t>Train / Validation /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2176272"/>
            <a:ext cx="2715768" cy="667512"/>
          </a:xfrm>
          <a:prstGeom prst="roundRect">
            <a:avLst>
              <a:gd name="adj" fmla="val 16000"/>
            </a:avLst>
          </a:prstGeom>
          <a:solidFill>
            <a:srgbClr val="EAF7F3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58784" y="2258568"/>
            <a:ext cx="2606040" cy="51206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263C"/>
                </a:solidFill>
                <a:latin typeface="Noto Sans"/>
              </a:rPr>
              <a:t>CatBoost.fit()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30752" y="2514600"/>
            <a:ext cx="877824" cy="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471416" y="2423160"/>
            <a:ext cx="137160" cy="9144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471416" y="2514600"/>
            <a:ext cx="137160" cy="9144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25512" y="2514600"/>
            <a:ext cx="896112" cy="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84464" y="2423160"/>
            <a:ext cx="137160" cy="9144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284464" y="2514600"/>
            <a:ext cx="137160" cy="9144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508760" y="4297680"/>
            <a:ext cx="2907792" cy="822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63624" y="4379976"/>
            <a:ext cx="2798064" cy="6675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3263C"/>
                </a:solidFill>
                <a:latin typeface="Noto Sans"/>
              </a:rPr>
              <a:t>model .cbm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0016" y="4297680"/>
            <a:ext cx="2871216" cy="822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79" y="4379976"/>
            <a:ext cx="2761488" cy="6675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3263C"/>
                </a:solidFill>
                <a:latin typeface="Noto Sans"/>
              </a:rPr>
              <a:t>metrics.json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36992" y="4297680"/>
            <a:ext cx="2880360" cy="822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91856" y="4379976"/>
            <a:ext cx="2770632" cy="66751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3263C"/>
                </a:solidFill>
                <a:latin typeface="Noto Sans"/>
              </a:rPr>
              <a:t>test_predictions.csv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962656" y="2880360"/>
            <a:ext cx="6894576" cy="1417320"/>
          </a:xfrm>
          <a:prstGeom prst="line">
            <a:avLst/>
          </a:prstGeom>
          <a:ln w="2159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6144768" y="2880360"/>
            <a:ext cx="3712464" cy="1417320"/>
          </a:xfrm>
          <a:prstGeom prst="line">
            <a:avLst/>
          </a:prstGeom>
          <a:ln w="2159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9326880" y="2880360"/>
            <a:ext cx="530352" cy="1417320"/>
          </a:xfrm>
          <a:prstGeom prst="line">
            <a:avLst/>
          </a:prstGeom>
          <a:ln w="2159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380744" y="5550408"/>
            <a:ext cx="9326880" cy="4389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6788C"/>
                </a:solidFill>
                <a:latin typeface="Noto Sans"/>
              </a:rPr>
              <a:t>Tham số, feature schema, importance và kết quả Test đều được lưu lại để kiểm thử tái lập.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84632" y="420624"/>
            <a:ext cx="91440" cy="347472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9768"/>
            <a:ext cx="6035040" cy="2651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A592"/>
                </a:solidFill>
                <a:latin typeface="Noto Sans"/>
              </a:rPr>
              <a:t>05 / CODE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50392"/>
            <a:ext cx="10698480" cy="6309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3263C"/>
                </a:solidFill>
                <a:latin typeface="Noto Sans"/>
              </a:rPr>
              <a:t>evaluate.py: kiểm tra model sau huấn luyện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464808"/>
            <a:ext cx="10698480" cy="0"/>
          </a:xfrm>
          <a:prstGeom prst="line">
            <a:avLst/>
          </a:prstGeom>
          <a:ln w="12700">
            <a:solidFill>
              <a:srgbClr val="D8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6547104"/>
            <a:ext cx="548640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88C"/>
                </a:solidFill>
                <a:latin typeface="Noto Sans"/>
              </a:rPr>
              <a:t>CAR PRICE AI  /  CATBOOST REGRESSOR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411480" cy="2103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88C"/>
                </a:solidFill>
                <a:latin typeface="Noto Sans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" y="1920240"/>
            <a:ext cx="4937760" cy="35570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52144" y="2121408"/>
            <a:ext cx="82296" cy="310896"/>
          </a:xfrm>
          <a:prstGeom prst="rect">
            <a:avLst/>
          </a:prstGeom>
          <a:solidFill>
            <a:srgbClr val="507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35024" y="2103120"/>
            <a:ext cx="4389120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3263C"/>
                </a:solidFill>
                <a:latin typeface="Noto Sans"/>
              </a:rPr>
              <a:t>ĐỌC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" y="2724912"/>
            <a:ext cx="4389120" cy="2606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60" b="0">
                <a:solidFill>
                  <a:srgbClr val="66788C"/>
                </a:solidFill>
                <a:latin typeface="Noto Sans"/>
              </a:rPr>
              <a:t>cars_clean_v2.csv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60" b="0">
                <a:solidFill>
                  <a:srgbClr val="66788C"/>
                </a:solidFill>
                <a:latin typeface="Noto Sans"/>
              </a:rPr>
              <a:t>catboost_car_price.cbm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60" b="0">
                <a:solidFill>
                  <a:srgbClr val="66788C"/>
                </a:solidFill>
                <a:latin typeface="Noto Sans"/>
              </a:rPr>
              <a:t>metrics.json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60" b="0">
                <a:solidFill>
                  <a:srgbClr val="66788C"/>
                </a:solidFill>
                <a:latin typeface="Noto Sans"/>
              </a:rPr>
              <a:t>test_predictions.csv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5624" y="1920240"/>
            <a:ext cx="5074920" cy="35570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18504" y="2121408"/>
            <a:ext cx="82296" cy="310896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2103120"/>
            <a:ext cx="4526280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3263C"/>
                </a:solidFill>
                <a:latin typeface="Noto Sans"/>
              </a:rPr>
              <a:t>GHI BÁO CÁO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724912"/>
            <a:ext cx="4526280" cy="2606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60" b="0" dirty="0">
                <a:solidFill>
                  <a:srgbClr val="66788C"/>
                </a:solidFill>
                <a:latin typeface="Noto Sans"/>
              </a:rPr>
              <a:t>dataset_comparison.csv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60" b="0" dirty="0">
                <a:solidFill>
                  <a:srgbClr val="66788C"/>
                </a:solidFill>
                <a:latin typeface="Noto Sans"/>
              </a:rPr>
              <a:t>errors_by_brand.csv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60" b="0" dirty="0">
                <a:solidFill>
                  <a:srgbClr val="66788C"/>
                </a:solidFill>
                <a:latin typeface="Noto Sans"/>
              </a:rPr>
              <a:t>errors_by_price_segment.csv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60" b="0" dirty="0">
                <a:solidFill>
                  <a:srgbClr val="66788C"/>
                </a:solidFill>
                <a:latin typeface="Noto Sans"/>
              </a:rPr>
              <a:t>top_20_errors.csv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5641848"/>
            <a:ext cx="9683496" cy="4297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3263C"/>
                </a:solidFill>
                <a:latin typeface="Noto Sans"/>
              </a:rPr>
              <a:t>Hàm calculate_metrics(): MAE, RMSE, R²  •  Phân nhóm lỗi theo giá và hãng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84632" y="420624"/>
            <a:ext cx="91440" cy="347472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9768"/>
            <a:ext cx="6035040" cy="2651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A592"/>
                </a:solidFill>
                <a:latin typeface="Noto Sans"/>
              </a:rPr>
              <a:t>05 / CODE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50392"/>
            <a:ext cx="10698480" cy="6309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3263C"/>
                </a:solidFill>
                <a:latin typeface="Noto Sans"/>
              </a:rPr>
              <a:t>run.py: giao diện Terminal dùng model đã lưu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464808"/>
            <a:ext cx="10698480" cy="0"/>
          </a:xfrm>
          <a:prstGeom prst="line">
            <a:avLst/>
          </a:prstGeom>
          <a:ln w="12700">
            <a:solidFill>
              <a:srgbClr val="D8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6547104"/>
            <a:ext cx="548640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88C"/>
                </a:solidFill>
                <a:latin typeface="Noto Sans"/>
              </a:rPr>
              <a:t>CAR PRICE AI  /  CATBOOST REGRESSOR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411480" cy="2103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88C"/>
                </a:solidFill>
                <a:latin typeface="Noto Sans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2542032"/>
            <a:ext cx="2478024" cy="8321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2624327"/>
            <a:ext cx="2368296" cy="6766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263C"/>
                </a:solidFill>
                <a:latin typeface="Noto Sans"/>
              </a:rPr>
              <a:t>ask_category()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611880"/>
            <a:ext cx="2423160" cy="5029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66788C"/>
                </a:solidFill>
                <a:latin typeface="Noto Sans"/>
              </a:rPr>
              <a:t>Hiện mọi hãng trong CSV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19272" y="2953512"/>
            <a:ext cx="274319" cy="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456432" y="2862072"/>
            <a:ext cx="137159" cy="9144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456432" y="2953512"/>
            <a:ext cx="137159" cy="9144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66744" y="2542032"/>
            <a:ext cx="2478024" cy="8321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21607" y="2624327"/>
            <a:ext cx="2368296" cy="6766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263C"/>
                </a:solidFill>
                <a:latin typeface="Noto Sans"/>
              </a:rPr>
              <a:t>input_car()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2463" y="3611880"/>
            <a:ext cx="2423160" cy="5029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66788C"/>
                </a:solidFill>
                <a:latin typeface="Noto Sans"/>
              </a:rPr>
              <a:t>Gom thông số người dùng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99631" y="2953512"/>
            <a:ext cx="274321" cy="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336792" y="2862072"/>
            <a:ext cx="137160" cy="9144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336792" y="2953512"/>
            <a:ext cx="137160" cy="9144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47104" y="2542032"/>
            <a:ext cx="2478024" cy="8321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01968" y="2624327"/>
            <a:ext cx="2368296" cy="6766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263C"/>
                </a:solidFill>
                <a:latin typeface="Noto Sans"/>
              </a:rPr>
              <a:t>prepare_input()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2824" y="3611880"/>
            <a:ext cx="2423160" cy="5029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66788C"/>
                </a:solidFill>
                <a:latin typeface="Noto Sans"/>
              </a:rPr>
              <a:t>Khớp thứ tự 14 features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79992" y="2953512"/>
            <a:ext cx="274320" cy="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217152" y="2862072"/>
            <a:ext cx="137160" cy="9144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217152" y="2953512"/>
            <a:ext cx="137160" cy="91440"/>
          </a:xfrm>
          <a:prstGeom prst="line">
            <a:avLst/>
          </a:prstGeom>
          <a:ln w="31750">
            <a:solidFill>
              <a:srgbClr val="507F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427463" y="2542032"/>
            <a:ext cx="2478024" cy="8321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82328" y="2624327"/>
            <a:ext cx="2368296" cy="6766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263C"/>
                </a:solidFill>
                <a:latin typeface="Noto Sans"/>
              </a:rPr>
              <a:t>predict_price()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3184" y="3611880"/>
            <a:ext cx="2423160" cy="5029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66788C"/>
                </a:solidFill>
                <a:latin typeface="Noto Sans"/>
              </a:rPr>
              <a:t>Dự báo triệu VNĐ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28800" y="4919472"/>
            <a:ext cx="8494776" cy="777240"/>
          </a:xfrm>
          <a:prstGeom prst="roundRect">
            <a:avLst>
              <a:gd name="adj" fmla="val 16000"/>
            </a:avLst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075688" y="5120640"/>
            <a:ext cx="8001000" cy="36576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3263C"/>
                </a:solidFill>
                <a:latin typeface="Noto Sans"/>
              </a:rPr>
              <a:t>Không train lại  •  Đọc .cbm + feature_columns.json  •  In giá dự đoán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84632" y="420624"/>
            <a:ext cx="91440" cy="347472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9768"/>
            <a:ext cx="6035040" cy="2651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A592"/>
                </a:solidFill>
                <a:latin typeface="Noto Sans"/>
              </a:rPr>
              <a:t>06 / ĐÁNH GIÁ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50392"/>
            <a:ext cx="10698480" cy="6309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3263C"/>
                </a:solidFill>
                <a:latin typeface="Noto Sans"/>
              </a:rPr>
              <a:t>Đo độ chính xác của bài toán hồi quy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464808"/>
            <a:ext cx="10698480" cy="0"/>
          </a:xfrm>
          <a:prstGeom prst="line">
            <a:avLst/>
          </a:prstGeom>
          <a:ln w="12700">
            <a:solidFill>
              <a:srgbClr val="D8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6547104"/>
            <a:ext cx="548640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88C"/>
                </a:solidFill>
                <a:latin typeface="Noto Sans"/>
              </a:rPr>
              <a:t>CAR PRICE AI  /  CATBOOST REGRESSOR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411480" cy="2103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88C"/>
                </a:solidFill>
                <a:latin typeface="Noto Sans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" y="1874519"/>
            <a:ext cx="3465576" cy="33375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42415" y="2075688"/>
            <a:ext cx="82296" cy="310896"/>
          </a:xfrm>
          <a:prstGeom prst="rect">
            <a:avLst/>
          </a:prstGeom>
          <a:solidFill>
            <a:srgbClr val="507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25295" y="2057400"/>
            <a:ext cx="2916936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3263C"/>
                </a:solidFill>
                <a:latin typeface="Noto Sans"/>
              </a:rPr>
              <a:t>MAE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2679191"/>
            <a:ext cx="2916936" cy="238658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60" b="0">
                <a:solidFill>
                  <a:srgbClr val="66788C"/>
                </a:solidFill>
                <a:latin typeface="Noto Sans"/>
              </a:rPr>
              <a:t>MAE = (1/n) Σ |yᵢ − ŷᵢ|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endParaRPr sz="1460" b="0">
              <a:solidFill>
                <a:srgbClr val="66788C"/>
              </a:solidFill>
              <a:latin typeface="Noto Sans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60" b="0">
                <a:solidFill>
                  <a:srgbClr val="66788C"/>
                </a:solidFill>
                <a:latin typeface="Noto Sans"/>
              </a:rPr>
              <a:t>Diễn giải trực tiếp bằng triệu VNĐ.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74519"/>
            <a:ext cx="3447288" cy="33375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0" y="2075688"/>
            <a:ext cx="82296" cy="310896"/>
          </a:xfrm>
          <a:prstGeom prst="rect">
            <a:avLst/>
          </a:prstGeom>
          <a:solidFill>
            <a:srgbClr val="F3A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2057400"/>
            <a:ext cx="2898648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3263C"/>
                </a:solidFill>
                <a:latin typeface="Noto Sans"/>
              </a:rPr>
              <a:t>RMSE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679191"/>
            <a:ext cx="2898648" cy="238658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60" b="0">
                <a:solidFill>
                  <a:srgbClr val="66788C"/>
                </a:solidFill>
                <a:latin typeface="Noto Sans"/>
              </a:rPr>
              <a:t>RMSE = √mean[(y − ŷ)²]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endParaRPr sz="1460" b="0">
              <a:solidFill>
                <a:srgbClr val="66788C"/>
              </a:solidFill>
              <a:latin typeface="Noto Sans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60" b="0">
                <a:solidFill>
                  <a:srgbClr val="66788C"/>
                </a:solidFill>
                <a:latin typeface="Noto Sans"/>
              </a:rPr>
              <a:t>Phạt nặng các dự đoán sai lớn.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0416" y="1874519"/>
            <a:ext cx="3438144" cy="33375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83296" y="2075688"/>
            <a:ext cx="82296" cy="310896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66176" y="2057400"/>
            <a:ext cx="2889503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3263C"/>
                </a:solidFill>
                <a:latin typeface="Noto Sans"/>
              </a:rPr>
              <a:t>R²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6" y="2679191"/>
            <a:ext cx="2889503" cy="238658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60" b="0">
                <a:solidFill>
                  <a:srgbClr val="66788C"/>
                </a:solidFill>
                <a:latin typeface="Noto Sans"/>
              </a:rPr>
              <a:t>R² = 1 − SSE / SST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endParaRPr sz="1460" b="0">
              <a:solidFill>
                <a:srgbClr val="66788C"/>
              </a:solidFill>
              <a:latin typeface="Noto Sans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60" b="0">
                <a:solidFill>
                  <a:srgbClr val="66788C"/>
                </a:solidFill>
                <a:latin typeface="Noto Sans"/>
              </a:rPr>
              <a:t>Không phải accuracy phần trăm.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208776"/>
            <a:ext cx="10332720" cy="2103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6788C"/>
                </a:solidFill>
                <a:latin typeface="Noto Sans"/>
              </a:rPr>
              <a:t>SSE = Σ(y−ŷ)² ; SST = Σ(y−ȳ)². Mỗi chỉ số trả lời một câu hỏi khác nhau.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84632" y="420624"/>
            <a:ext cx="91440" cy="347472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9768"/>
            <a:ext cx="6035040" cy="2651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A592"/>
                </a:solidFill>
                <a:latin typeface="Noto Sans"/>
              </a:rPr>
              <a:t>06 / KẾT QUẢ THỰC TẾ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50392"/>
            <a:ext cx="10698480" cy="6309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3263C"/>
                </a:solidFill>
                <a:latin typeface="Noto Sans"/>
              </a:rPr>
              <a:t>CatBoost Test: hiệu quả tốt nhưng còn tail risk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464808"/>
            <a:ext cx="10698480" cy="0"/>
          </a:xfrm>
          <a:prstGeom prst="line">
            <a:avLst/>
          </a:prstGeom>
          <a:ln w="12700">
            <a:solidFill>
              <a:srgbClr val="D8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6547104"/>
            <a:ext cx="548640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88C"/>
                </a:solidFill>
                <a:latin typeface="Noto Sans"/>
              </a:rPr>
              <a:t>CAR PRICE AI  /  CATBOOST REGRESSOR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411480" cy="2103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88C"/>
                </a:solidFill>
                <a:latin typeface="Noto Sans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1901952"/>
            <a:ext cx="3401568" cy="12984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039112"/>
            <a:ext cx="2980944" cy="2468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788C"/>
                </a:solidFill>
                <a:latin typeface="Noto Sans"/>
              </a:rPr>
              <a:t>Test R²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2377440"/>
            <a:ext cx="2999232" cy="4937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6A592"/>
                </a:solidFill>
                <a:latin typeface="Noto Sans"/>
              </a:rPr>
              <a:t>0,9568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935224"/>
            <a:ext cx="2944368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88C"/>
                </a:solidFill>
                <a:latin typeface="Noto Sans"/>
              </a:rPr>
              <a:t>Không phải accuracy 95,68%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1901952"/>
            <a:ext cx="3401568" cy="12984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08576" y="2039112"/>
            <a:ext cx="2980944" cy="2468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788C"/>
                </a:solidFill>
                <a:latin typeface="Noto Sans"/>
              </a:rPr>
              <a:t>Test MAE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2377440"/>
            <a:ext cx="2999232" cy="4937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507FF1"/>
                </a:solidFill>
                <a:latin typeface="Noto Sans"/>
              </a:rPr>
              <a:t>112,08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935224"/>
            <a:ext cx="2944368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88C"/>
                </a:solidFill>
                <a:latin typeface="Noto Sans"/>
              </a:rPr>
              <a:t>Triệu VNĐ / dự đoán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1901952"/>
            <a:ext cx="3401568" cy="12984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80" y="2039112"/>
            <a:ext cx="2980944" cy="2468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788C"/>
                </a:solidFill>
                <a:latin typeface="Noto Sans"/>
              </a:rPr>
              <a:t>Test RMSE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2377440"/>
            <a:ext cx="2999232" cy="4937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3A15E"/>
                </a:solidFill>
                <a:latin typeface="Noto Sans"/>
              </a:rPr>
              <a:t>376,70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2935224"/>
            <a:ext cx="2944368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88C"/>
                </a:solidFill>
                <a:latin typeface="Noto Sans"/>
              </a:rPr>
              <a:t>Triệu VNĐ / nhạy outlier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6208776"/>
            <a:ext cx="10332720" cy="2103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6788C"/>
                </a:solidFill>
                <a:latin typeface="Noto Sans"/>
              </a:rPr>
              <a:t>Nguồn: reports/metrics.json và evaluation_summary.json.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ae_splits.png">
            <a:extLst>
              <a:ext uri="{FF2B5EF4-FFF2-40B4-BE49-F238E27FC236}">
                <a16:creationId xmlns:a16="http://schemas.microsoft.com/office/drawing/2014/main" id="{A9BB8726-AA21-397B-A3C2-67B1CBA58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494" y="643466"/>
            <a:ext cx="844101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1955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84632" y="420624"/>
            <a:ext cx="91440" cy="347472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9768"/>
            <a:ext cx="6035040" cy="2651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A592"/>
                </a:solidFill>
                <a:latin typeface="Noto Sans"/>
              </a:rPr>
              <a:t>06 /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50392"/>
            <a:ext cx="10698480" cy="6309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3263C"/>
                </a:solidFill>
                <a:latin typeface="Noto Sans"/>
              </a:rPr>
              <a:t>Hồi quy không có “accuracy” mặc định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572768"/>
            <a:ext cx="10515600" cy="4480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66788C"/>
                </a:solidFill>
                <a:latin typeface="Noto Sans"/>
              </a:rPr>
              <a:t>Dùng tỷ lệ tin có sai số nằm trong ngưỡng đã định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6464808"/>
            <a:ext cx="10698480" cy="0"/>
          </a:xfrm>
          <a:prstGeom prst="line">
            <a:avLst/>
          </a:prstGeom>
          <a:ln w="12700">
            <a:solidFill>
              <a:srgbClr val="D8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9808" y="6547104"/>
            <a:ext cx="548640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88C"/>
                </a:solidFill>
                <a:latin typeface="Noto Sans"/>
              </a:rPr>
              <a:t>CAR PRICE AI  /  CATBOOST REGRESSOR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19672"/>
            <a:ext cx="411480" cy="2103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88C"/>
                </a:solidFill>
                <a:latin typeface="Noto Sans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88136" y="2029968"/>
            <a:ext cx="2980944" cy="12984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98448" y="2167128"/>
            <a:ext cx="2560320" cy="2468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788C"/>
                </a:solidFill>
                <a:latin typeface="Noto Sans"/>
              </a:rPr>
              <a:t>Sai số ≤ 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" y="2505456"/>
            <a:ext cx="2578608" cy="4937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507FF1"/>
                </a:solidFill>
                <a:latin typeface="Noto Sans"/>
              </a:rPr>
              <a:t>63,80%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3063240"/>
            <a:ext cx="2523744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88C"/>
                </a:solidFill>
                <a:latin typeface="Noto Sans"/>
              </a:rPr>
              <a:t>Test n = 3.688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08576" y="2029968"/>
            <a:ext cx="2980944" cy="12984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18888" y="2167128"/>
            <a:ext cx="2560320" cy="2468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788C"/>
                </a:solidFill>
                <a:latin typeface="Noto Sans"/>
              </a:rPr>
              <a:t>Sai số ≤ 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9744" y="2505456"/>
            <a:ext cx="2578608" cy="4937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6A592"/>
                </a:solidFill>
                <a:latin typeface="Noto Sans"/>
              </a:rPr>
              <a:t>85,30%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7176" y="3063240"/>
            <a:ext cx="2523744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88C"/>
                </a:solidFill>
                <a:latin typeface="Noto Sans"/>
              </a:rPr>
              <a:t>Thước đo đề xuất khi thuyết trình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029968"/>
            <a:ext cx="2980944" cy="12984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2" y="2167128"/>
            <a:ext cx="2560320" cy="2468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6788C"/>
                </a:solidFill>
                <a:latin typeface="Noto Sans"/>
              </a:rPr>
              <a:t>MAPE toàn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505456"/>
            <a:ext cx="2578608" cy="4937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3A15E"/>
                </a:solidFill>
                <a:latin typeface="Noto Sans"/>
              </a:rPr>
              <a:t>12,66%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063240"/>
            <a:ext cx="2523744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88C"/>
                </a:solidFill>
                <a:latin typeface="Noto Sans"/>
              </a:rPr>
              <a:t>Trung bình sai số phần trăm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3922776"/>
            <a:ext cx="9966960" cy="12344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72768" y="4306824"/>
            <a:ext cx="9034272" cy="46634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3263C"/>
                </a:solidFill>
                <a:latin typeface="Noto Sans"/>
              </a:rPr>
              <a:t>A₂₀ = (1/n) Σ 1{ |yᵢ − ŷᵢ| / yᵢ ≤ 0,20 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ae_segments.png">
            <a:extLst>
              <a:ext uri="{FF2B5EF4-FFF2-40B4-BE49-F238E27FC236}">
                <a16:creationId xmlns:a16="http://schemas.microsoft.com/office/drawing/2014/main" id="{766033B4-1540-154F-07B1-4C3B5913F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446" y="643466"/>
            <a:ext cx="928510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888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mape_segments.png">
            <a:extLst>
              <a:ext uri="{FF2B5EF4-FFF2-40B4-BE49-F238E27FC236}">
                <a16:creationId xmlns:a16="http://schemas.microsoft.com/office/drawing/2014/main" id="{CB7A5407-38BB-5D68-F267-86FFAB31D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6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23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84632" y="420624"/>
            <a:ext cx="91440" cy="347472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9768"/>
            <a:ext cx="6035040" cy="2651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A592"/>
                </a:solidFill>
                <a:latin typeface="Noto Sans"/>
              </a:rPr>
              <a:t>06 / PHÂN TÍCH LỖI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50392"/>
            <a:ext cx="10698480" cy="6309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dirty="0">
                <a:solidFill>
                  <a:srgbClr val="13263C"/>
                </a:solidFill>
                <a:latin typeface="Noto Sans"/>
              </a:rPr>
              <a:t>11,3% </a:t>
            </a:r>
            <a:r>
              <a:rPr sz="3100" b="1" dirty="0" err="1">
                <a:solidFill>
                  <a:srgbClr val="13263C"/>
                </a:solidFill>
                <a:latin typeface="Noto Sans"/>
              </a:rPr>
              <a:t>xe</a:t>
            </a:r>
            <a:r>
              <a:rPr sz="3100" b="1" dirty="0">
                <a:solidFill>
                  <a:srgbClr val="13263C"/>
                </a:solidFill>
                <a:latin typeface="Noto Sans"/>
              </a:rPr>
              <a:t> </a:t>
            </a:r>
            <a:r>
              <a:rPr sz="3100" b="1" dirty="0" err="1">
                <a:solidFill>
                  <a:srgbClr val="13263C"/>
                </a:solidFill>
                <a:latin typeface="Noto Sans"/>
              </a:rPr>
              <a:t>trên</a:t>
            </a:r>
            <a:r>
              <a:rPr sz="3100" b="1" dirty="0">
                <a:solidFill>
                  <a:srgbClr val="13263C"/>
                </a:solidFill>
                <a:latin typeface="Noto Sans"/>
              </a:rPr>
              <a:t> 2 </a:t>
            </a:r>
            <a:r>
              <a:rPr sz="3100" b="1" dirty="0" err="1">
                <a:solidFill>
                  <a:srgbClr val="13263C"/>
                </a:solidFill>
                <a:latin typeface="Noto Sans"/>
              </a:rPr>
              <a:t>tỷ</a:t>
            </a:r>
            <a:r>
              <a:rPr sz="3100" b="1" dirty="0">
                <a:solidFill>
                  <a:srgbClr val="13263C"/>
                </a:solidFill>
                <a:latin typeface="Noto Sans"/>
              </a:rPr>
              <a:t> </a:t>
            </a:r>
            <a:r>
              <a:rPr sz="3100" b="1" dirty="0" err="1">
                <a:solidFill>
                  <a:srgbClr val="13263C"/>
                </a:solidFill>
                <a:latin typeface="Noto Sans"/>
              </a:rPr>
              <a:t>gây</a:t>
            </a:r>
            <a:r>
              <a:rPr sz="3100" b="1" dirty="0">
                <a:solidFill>
                  <a:srgbClr val="13263C"/>
                </a:solidFill>
                <a:latin typeface="Noto Sans"/>
              </a:rPr>
              <a:t> 50,1% </a:t>
            </a:r>
            <a:r>
              <a:rPr sz="3100" b="1" dirty="0" err="1">
                <a:solidFill>
                  <a:srgbClr val="13263C"/>
                </a:solidFill>
                <a:latin typeface="Noto Sans"/>
              </a:rPr>
              <a:t>tổng</a:t>
            </a:r>
            <a:r>
              <a:rPr sz="3100" b="1" dirty="0">
                <a:solidFill>
                  <a:srgbClr val="13263C"/>
                </a:solidFill>
                <a:latin typeface="Noto Sans"/>
              </a:rPr>
              <a:t> </a:t>
            </a:r>
            <a:r>
              <a:rPr sz="3100" b="1" dirty="0" err="1">
                <a:solidFill>
                  <a:srgbClr val="13263C"/>
                </a:solidFill>
                <a:latin typeface="Noto Sans"/>
              </a:rPr>
              <a:t>sai</a:t>
            </a:r>
            <a:r>
              <a:rPr sz="3100" b="1" dirty="0">
                <a:solidFill>
                  <a:srgbClr val="13263C"/>
                </a:solidFill>
                <a:latin typeface="Noto Sans"/>
              </a:rPr>
              <a:t> </a:t>
            </a:r>
            <a:r>
              <a:rPr sz="3100" b="1" dirty="0" err="1">
                <a:solidFill>
                  <a:srgbClr val="13263C"/>
                </a:solidFill>
                <a:latin typeface="Noto Sans"/>
              </a:rPr>
              <a:t>số</a:t>
            </a:r>
            <a:endParaRPr sz="3100" b="1" dirty="0">
              <a:solidFill>
                <a:srgbClr val="13263C"/>
              </a:solidFill>
              <a:latin typeface="Noto San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731520" y="6464808"/>
            <a:ext cx="10698480" cy="0"/>
          </a:xfrm>
          <a:prstGeom prst="line">
            <a:avLst/>
          </a:prstGeom>
          <a:ln w="12700">
            <a:solidFill>
              <a:srgbClr val="D8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6547104"/>
            <a:ext cx="548640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88C"/>
                </a:solidFill>
                <a:latin typeface="Noto Sans"/>
              </a:rPr>
              <a:t>CAR PRICE AI  /  CATBOOST REGRESSOR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411480" cy="2103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88C"/>
                </a:solidFill>
                <a:latin typeface="Noto Sans"/>
              </a:rP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039112"/>
            <a:ext cx="4005072" cy="31912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78992" y="2240280"/>
            <a:ext cx="82296" cy="310896"/>
          </a:xfrm>
          <a:prstGeom prst="rect">
            <a:avLst/>
          </a:prstGeom>
          <a:solidFill>
            <a:srgbClr val="F3A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61872" y="2221992"/>
            <a:ext cx="3456432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3263C"/>
                </a:solidFill>
                <a:latin typeface="Noto Sans"/>
              </a:rPr>
              <a:t>418 / 3.688 mẫu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843784"/>
            <a:ext cx="3456432" cy="22402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60" b="0">
                <a:solidFill>
                  <a:srgbClr val="66788C"/>
                </a:solidFill>
                <a:latin typeface="Noto Sans"/>
              </a:rPr>
              <a:t>Xe trên 2 tỷ chỉ chiếm 11,3% dữ liệu Test.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75504" y="2039112"/>
            <a:ext cx="6044184" cy="31912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58384" y="2240280"/>
            <a:ext cx="82296" cy="310896"/>
          </a:xfrm>
          <a:prstGeom prst="rect">
            <a:avLst/>
          </a:prstGeom>
          <a:solidFill>
            <a:srgbClr val="DD6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41264" y="2221992"/>
            <a:ext cx="5495544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3263C"/>
                </a:solidFill>
                <a:latin typeface="Noto Sans"/>
              </a:rPr>
              <a:t>50,1% tổng sai số tuyệt đối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9824" y="2843784"/>
            <a:ext cx="5495544" cy="22402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60" b="0">
                <a:solidFill>
                  <a:srgbClr val="66788C"/>
                </a:solidFill>
                <a:latin typeface="Noto Sans"/>
              </a:rPr>
              <a:t>Tập trung vào một nhóm giá cao có thể giúp giảm MAE/RMSE toàn tập.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36392" y="5559552"/>
            <a:ext cx="5925312" cy="384048"/>
          </a:xfrm>
          <a:prstGeom prst="roundRect">
            <a:avLst>
              <a:gd name="adj" fmla="val 16000"/>
            </a:avLst>
          </a:prstGeom>
          <a:solidFill>
            <a:srgbClr val="FF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27832" y="5614416"/>
            <a:ext cx="5742432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6642F"/>
                </a:solidFill>
                <a:latin typeface="Noto Sans"/>
              </a:rPr>
              <a:t>Không xóa xe đắt tiền chỉ vì sai số lớn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84632" y="420624"/>
            <a:ext cx="91440" cy="347472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9768"/>
            <a:ext cx="6035040" cy="2651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A592"/>
                </a:solidFill>
                <a:latin typeface="Noto Sans"/>
              </a:rPr>
              <a:t>06 / THEO HÃNG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50392"/>
            <a:ext cx="10698480" cy="6309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3263C"/>
                </a:solidFill>
                <a:latin typeface="Noto Sans"/>
              </a:rPr>
              <a:t>Nhóm nào đang khó dự đoán?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464808"/>
            <a:ext cx="10698480" cy="0"/>
          </a:xfrm>
          <a:prstGeom prst="line">
            <a:avLst/>
          </a:prstGeom>
          <a:ln w="12700">
            <a:solidFill>
              <a:srgbClr val="D8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6547104"/>
            <a:ext cx="548640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88C"/>
                </a:solidFill>
                <a:latin typeface="Noto Sans"/>
              </a:rPr>
              <a:t>CAR PRICE AI  /  CATBOOST REGRESSOR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411480" cy="2103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88C"/>
                </a:solidFill>
                <a:latin typeface="Noto Sans"/>
              </a:rPr>
              <a:t>29</a:t>
            </a:r>
          </a:p>
        </p:txBody>
      </p:sp>
      <p:pic>
        <p:nvPicPr>
          <p:cNvPr id="9" name="Picture 8" descr="brand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463" y="1947672"/>
            <a:ext cx="6100168" cy="381304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0" y="2167128"/>
            <a:ext cx="3227832" cy="31729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12480" y="2368296"/>
            <a:ext cx="82296" cy="310896"/>
          </a:xfrm>
          <a:prstGeom prst="rect">
            <a:avLst/>
          </a:prstGeom>
          <a:solidFill>
            <a:srgbClr val="F3A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0" y="2350008"/>
            <a:ext cx="2679191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3263C"/>
                </a:solidFill>
                <a:latin typeface="Noto Sans"/>
              </a:rPr>
              <a:t>Lưu ý khi đọc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71800"/>
            <a:ext cx="2679191" cy="22219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60" b="0">
                <a:solidFill>
                  <a:srgbClr val="66788C"/>
                </a:solidFill>
                <a:latin typeface="Noto Sans"/>
              </a:rPr>
              <a:t>MAE lớn cũng vì mặt bằng giá cao. Số mẫu ít làm ước lượng kém ổn định.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208776"/>
            <a:ext cx="10332720" cy="2103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6788C"/>
                </a:solidFill>
                <a:latin typeface="Noto Sans"/>
              </a:rPr>
              <a:t>Nguồn: reports/errors_by_brand.csv. Đồ thị chỉ hiển thị hãng có tối thiểu 20 mẫu Test.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84632" y="420624"/>
            <a:ext cx="91440" cy="347472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9768"/>
            <a:ext cx="6035040" cy="2651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A592"/>
                </a:solidFill>
                <a:latin typeface="Noto Sans"/>
              </a:rPr>
              <a:t>06 / CA KIỂM THỬ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50392"/>
            <a:ext cx="10698480" cy="6309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3263C"/>
                </a:solidFill>
                <a:latin typeface="Noto Sans"/>
              </a:rPr>
              <a:t>Các dự đoán lệch nghiêm trọng nhất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464808"/>
            <a:ext cx="10698480" cy="0"/>
          </a:xfrm>
          <a:prstGeom prst="line">
            <a:avLst/>
          </a:prstGeom>
          <a:ln w="12700">
            <a:solidFill>
              <a:srgbClr val="D8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6547104"/>
            <a:ext cx="548640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88C"/>
                </a:solidFill>
                <a:latin typeface="Noto Sans"/>
              </a:rPr>
              <a:t>CAR PRICE AI  /  CATBOOST REGRESSOR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411480" cy="2103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88C"/>
                </a:solidFill>
                <a:latin typeface="Noto Sans"/>
              </a:rP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1929384"/>
            <a:ext cx="4114800" cy="457200"/>
          </a:xfrm>
          <a:prstGeom prst="rect">
            <a:avLst/>
          </a:prstGeom>
          <a:solidFill>
            <a:srgbClr val="13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" y="2011679"/>
            <a:ext cx="3931920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"/>
              </a:rPr>
              <a:t>XE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28616" y="1929384"/>
            <a:ext cx="2039112" cy="457200"/>
          </a:xfrm>
          <a:prstGeom prst="rect">
            <a:avLst/>
          </a:prstGeom>
          <a:solidFill>
            <a:srgbClr val="13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0055" y="2011679"/>
            <a:ext cx="1856231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"/>
              </a:rPr>
              <a:t>GIÁ THẬT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67727" y="1929384"/>
            <a:ext cx="2011680" cy="457200"/>
          </a:xfrm>
          <a:prstGeom prst="rect">
            <a:avLst/>
          </a:prstGeom>
          <a:solidFill>
            <a:srgbClr val="13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59167" y="2011679"/>
            <a:ext cx="1828800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"/>
              </a:rPr>
              <a:t>DỰ ĐOÁN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79408" y="1929384"/>
            <a:ext cx="2112264" cy="457200"/>
          </a:xfrm>
          <a:prstGeom prst="rect">
            <a:avLst/>
          </a:prstGeom>
          <a:solidFill>
            <a:srgbClr val="13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70848" y="2011679"/>
            <a:ext cx="1929384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"/>
              </a:rPr>
              <a:t>SAI SỐ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" y="2386584"/>
            <a:ext cx="4114800" cy="612648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5256" y="2468879"/>
            <a:ext cx="3941063" cy="5212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RAM 1500 · 2022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28616" y="2386584"/>
            <a:ext cx="2039112" cy="612648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0055" y="2468879"/>
            <a:ext cx="1865376" cy="5212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5.200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67727" y="2386584"/>
            <a:ext cx="2011680" cy="612648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59167" y="2468879"/>
            <a:ext cx="1837944" cy="5212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16.796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9408" y="2386584"/>
            <a:ext cx="2112264" cy="612648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70848" y="2468879"/>
            <a:ext cx="1938528" cy="5212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11.596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" y="2999232"/>
            <a:ext cx="4114800" cy="612648"/>
          </a:xfrm>
          <a:prstGeom prst="rect">
            <a:avLst/>
          </a:prstGeom>
          <a:solidFill>
            <a:srgbClr val="EEF4F8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5256" y="3081527"/>
            <a:ext cx="3941063" cy="5212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G class · 2014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28616" y="2999232"/>
            <a:ext cx="2039112" cy="612648"/>
          </a:xfrm>
          <a:prstGeom prst="rect">
            <a:avLst/>
          </a:prstGeom>
          <a:solidFill>
            <a:srgbClr val="EEF4F8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0055" y="3081527"/>
            <a:ext cx="1865376" cy="5212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10.999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67727" y="2999232"/>
            <a:ext cx="2011680" cy="612648"/>
          </a:xfrm>
          <a:prstGeom prst="rect">
            <a:avLst/>
          </a:prstGeom>
          <a:solidFill>
            <a:srgbClr val="EEF4F8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59167" y="3081527"/>
            <a:ext cx="1837944" cy="5212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4.144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79408" y="2999232"/>
            <a:ext cx="2112264" cy="612648"/>
          </a:xfrm>
          <a:prstGeom prst="rect">
            <a:avLst/>
          </a:prstGeom>
          <a:solidFill>
            <a:srgbClr val="EEF4F8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70848" y="3081527"/>
            <a:ext cx="1938528" cy="5212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6.855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" y="3611880"/>
            <a:ext cx="4114800" cy="612648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5256" y="3694176"/>
            <a:ext cx="3941063" cy="5212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Bentley Mulsanne · 2020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28616" y="3611880"/>
            <a:ext cx="2039112" cy="612648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0055" y="3694176"/>
            <a:ext cx="1865376" cy="5212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29.500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67727" y="3611880"/>
            <a:ext cx="2011680" cy="612648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59167" y="3694176"/>
            <a:ext cx="1837944" cy="5212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36.177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79408" y="3611880"/>
            <a:ext cx="2112264" cy="612648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70848" y="3694176"/>
            <a:ext cx="1938528" cy="5212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6.677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6" y="4224528"/>
            <a:ext cx="4114800" cy="612648"/>
          </a:xfrm>
          <a:prstGeom prst="rect">
            <a:avLst/>
          </a:prstGeom>
          <a:solidFill>
            <a:srgbClr val="EEF4F8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05256" y="4306824"/>
            <a:ext cx="3941063" cy="5212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Bentley Bentayga · 2019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28616" y="4224528"/>
            <a:ext cx="2039112" cy="612648"/>
          </a:xfrm>
          <a:prstGeom prst="rect">
            <a:avLst/>
          </a:prstGeom>
          <a:solidFill>
            <a:srgbClr val="EEF4F8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0055" y="4306824"/>
            <a:ext cx="1865376" cy="5212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13.500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67727" y="4224528"/>
            <a:ext cx="2011680" cy="612648"/>
          </a:xfrm>
          <a:prstGeom prst="rect">
            <a:avLst/>
          </a:prstGeom>
          <a:solidFill>
            <a:srgbClr val="EEF4F8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059167" y="4306824"/>
            <a:ext cx="1837944" cy="5212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8.056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79408" y="4224528"/>
            <a:ext cx="2112264" cy="612648"/>
          </a:xfrm>
          <a:prstGeom prst="rect">
            <a:avLst/>
          </a:prstGeom>
          <a:solidFill>
            <a:srgbClr val="EEF4F8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070848" y="4306824"/>
            <a:ext cx="1938528" cy="5212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5.444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3816" y="4837176"/>
            <a:ext cx="4114800" cy="612648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05256" y="4919472"/>
            <a:ext cx="3941063" cy="5212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Lamborghini Urus · 2019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28616" y="4837176"/>
            <a:ext cx="2039112" cy="612648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020055" y="4919472"/>
            <a:ext cx="1865376" cy="5212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17.700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67727" y="4837176"/>
            <a:ext cx="2011680" cy="612648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059167" y="4919472"/>
            <a:ext cx="1837944" cy="5212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12.570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79408" y="4837176"/>
            <a:ext cx="2112264" cy="612648"/>
          </a:xfrm>
          <a:prstGeom prst="rect">
            <a:avLst/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070848" y="4919472"/>
            <a:ext cx="1938528" cy="52120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2364A"/>
                </a:solidFill>
                <a:latin typeface="Noto Sans"/>
              </a:rPr>
              <a:t>5.130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587752" y="5925312"/>
            <a:ext cx="7114032" cy="384048"/>
          </a:xfrm>
          <a:prstGeom prst="roundRect">
            <a:avLst>
              <a:gd name="adj" fmla="val 16000"/>
            </a:avLst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679192" y="5980176"/>
            <a:ext cx="6931152" cy="25603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A592"/>
                </a:solidFill>
                <a:latin typeface="Noto Sans"/>
              </a:rPr>
              <a:t>Đơn vị: triệu VNĐ  •  Không khẳng định đây đều là lỗi dữ liệu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84632" y="420624"/>
            <a:ext cx="91440" cy="347472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9768"/>
            <a:ext cx="6035040" cy="2651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6A592"/>
                </a:solidFill>
                <a:latin typeface="Noto Sans"/>
              </a:rPr>
              <a:t>07 / FEATURE IMPORTANCE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50392"/>
            <a:ext cx="10698480" cy="6309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3263C"/>
                </a:solidFill>
                <a:latin typeface="Noto Sans"/>
              </a:rPr>
              <a:t>Đặc trưng nào đang chi phối dự đoán?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6464808"/>
            <a:ext cx="10698480" cy="0"/>
          </a:xfrm>
          <a:prstGeom prst="line">
            <a:avLst/>
          </a:prstGeom>
          <a:ln w="12700">
            <a:solidFill>
              <a:srgbClr val="D8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6547104"/>
            <a:ext cx="548640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88C"/>
                </a:solidFill>
                <a:latin typeface="Noto Sans"/>
              </a:rPr>
              <a:t>CAR PRICE AI  /  CATBOOST REGRESSOR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19672"/>
            <a:ext cx="411480" cy="2103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88C"/>
                </a:solidFill>
                <a:latin typeface="Noto Sans"/>
              </a:rPr>
              <a:t>31</a:t>
            </a:r>
          </a:p>
        </p:txBody>
      </p:sp>
      <p:pic>
        <p:nvPicPr>
          <p:cNvPr id="9" name="Picture 8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203" y="1892807"/>
            <a:ext cx="6446161" cy="395020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22792" y="2121408"/>
            <a:ext cx="2889504" cy="33741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8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805672" y="2322576"/>
            <a:ext cx="82296" cy="310896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88552" y="2304288"/>
            <a:ext cx="2340864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3263C"/>
                </a:solidFill>
                <a:latin typeface="Noto Sans"/>
              </a:rPr>
              <a:t>TOP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7112" y="2926079"/>
            <a:ext cx="2340864" cy="242316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60" b="0">
                <a:solidFill>
                  <a:srgbClr val="66788C"/>
                </a:solidFill>
                <a:latin typeface="Noto Sans"/>
              </a:rPr>
              <a:t>engine_liters 34,24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60" b="0">
                <a:solidFill>
                  <a:srgbClr val="66788C"/>
                </a:solidFill>
                <a:latin typeface="Noto Sans"/>
              </a:rPr>
              <a:t>year 29,16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60" b="0">
                <a:solidFill>
                  <a:srgbClr val="66788C"/>
                </a:solidFill>
                <a:latin typeface="Noto Sans"/>
              </a:rPr>
              <a:t>brand 14,64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endParaRPr sz="1460" b="0">
              <a:solidFill>
                <a:srgbClr val="66788C"/>
              </a:solidFill>
              <a:latin typeface="Noto Sans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60" b="0">
                <a:solidFill>
                  <a:srgbClr val="66788C"/>
                </a:solidFill>
                <a:latin typeface="Noto Sans"/>
              </a:rPr>
              <a:t>Tổng 78,03 điểm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208776"/>
            <a:ext cx="10332720" cy="2103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6788C"/>
                </a:solidFill>
                <a:latin typeface="Noto Sans"/>
              </a:rPr>
              <a:t>PredictionValuesChange: phản ánh biến động dự báo của model, không chứng minh nhân quả [R5].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84632" y="420624"/>
            <a:ext cx="91440" cy="347472"/>
          </a:xfrm>
          <a:prstGeom prst="rect">
            <a:avLst/>
          </a:prstGeom>
          <a:solidFill>
            <a:srgbClr val="16A5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29768"/>
            <a:ext cx="6035040" cy="2651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DCC5"/>
                </a:solidFill>
                <a:latin typeface="Noto Sans"/>
              </a:rPr>
              <a:t>08 / KẾT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50392"/>
            <a:ext cx="10698480" cy="63093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Noto Sans"/>
              </a:rPr>
              <a:t>Thông điệp cuối cùng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572768"/>
            <a:ext cx="10515600" cy="4480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CFDAE7"/>
                </a:solidFill>
                <a:latin typeface="Noto Sans"/>
              </a:rPr>
              <a:t>Project hoàn thành pipeline hoạt động - có chỉ số - có giới hạn được trình bày rõ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6464808"/>
            <a:ext cx="10698480" cy="0"/>
          </a:xfrm>
          <a:prstGeom prst="line">
            <a:avLst/>
          </a:prstGeom>
          <a:ln w="12700">
            <a:solidFill>
              <a:srgbClr val="4054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9808" y="6547104"/>
            <a:ext cx="5486400" cy="18288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B4CAD8"/>
                </a:solidFill>
                <a:latin typeface="Noto Sans"/>
              </a:rPr>
              <a:t>CAR PRICE AI  /  CATBOOST REGRESSOR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088" y="6519672"/>
            <a:ext cx="411480" cy="2103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4CAD8"/>
                </a:solidFill>
                <a:latin typeface="Noto Sans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84831"/>
            <a:ext cx="2542032" cy="1609344"/>
          </a:xfrm>
          <a:prstGeom prst="roundRect">
            <a:avLst>
              <a:gd name="adj" fmla="val 16000"/>
            </a:avLst>
          </a:prstGeom>
          <a:solidFill>
            <a:srgbClr val="20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350008"/>
            <a:ext cx="2240280" cy="58521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65DECA"/>
                </a:solidFill>
                <a:latin typeface="Noto Sans"/>
              </a:rPr>
              <a:t>24.582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72968"/>
            <a:ext cx="2267712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CEDFE9"/>
                </a:solidFill>
                <a:latin typeface="Noto Sans"/>
              </a:rPr>
              <a:t>Bản ghi xe cũ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48456" y="2084831"/>
            <a:ext cx="2542032" cy="1609344"/>
          </a:xfrm>
          <a:prstGeom prst="roundRect">
            <a:avLst>
              <a:gd name="adj" fmla="val 16000"/>
            </a:avLst>
          </a:prstGeom>
          <a:solidFill>
            <a:srgbClr val="20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03904" y="2350008"/>
            <a:ext cx="2240280" cy="58521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65DECA"/>
                </a:solidFill>
                <a:latin typeface="Noto Sans"/>
              </a:rPr>
              <a:t>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5616" y="3172968"/>
            <a:ext cx="2267712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CEDFE9"/>
                </a:solidFill>
                <a:latin typeface="Noto Sans"/>
              </a:rPr>
              <a:t>Hãng xe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19672" y="2084831"/>
            <a:ext cx="2542032" cy="1609344"/>
          </a:xfrm>
          <a:prstGeom prst="roundRect">
            <a:avLst>
              <a:gd name="adj" fmla="val 16000"/>
            </a:avLst>
          </a:prstGeom>
          <a:solidFill>
            <a:srgbClr val="20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2350008"/>
            <a:ext cx="2240280" cy="58521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65DECA"/>
                </a:solidFill>
                <a:latin typeface="Noto Sans"/>
              </a:rPr>
              <a:t>0,9568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3172968"/>
            <a:ext cx="2267712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CEDFE9"/>
                </a:solidFill>
                <a:latin typeface="Noto Sans"/>
              </a:rPr>
              <a:t>Test R²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90888" y="2084831"/>
            <a:ext cx="2542032" cy="1609344"/>
          </a:xfrm>
          <a:prstGeom prst="roundRect">
            <a:avLst>
              <a:gd name="adj" fmla="val 16000"/>
            </a:avLst>
          </a:prstGeom>
          <a:solidFill>
            <a:srgbClr val="20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46336" y="2350008"/>
            <a:ext cx="2240280" cy="58521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65DECA"/>
                </a:solidFill>
                <a:latin typeface="Noto Sans"/>
              </a:rPr>
              <a:t>85,3%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8048" y="3172968"/>
            <a:ext cx="2267712" cy="32004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CEDFE9"/>
                </a:solidFill>
                <a:latin typeface="Noto Sans"/>
              </a:rPr>
              <a:t>Trong ngưỡng ±20%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" y="4626864"/>
            <a:ext cx="10076688" cy="9509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Noto Sans"/>
              </a:rPr>
              <a:t>Một model tốt không chỉ cho kết quả đẹp: còn phải biết khi nào dự đoán không đáng tin.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1825</Words>
  <Application>Microsoft Office PowerPoint</Application>
  <PresentationFormat>Widescreen</PresentationFormat>
  <Paragraphs>331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7</cp:revision>
  <dcterms:created xsi:type="dcterms:W3CDTF">2013-01-27T09:14:16Z</dcterms:created>
  <dcterms:modified xsi:type="dcterms:W3CDTF">2026-10-25T08:40:18Z</dcterms:modified>
  <cp:category/>
</cp:coreProperties>
</file>